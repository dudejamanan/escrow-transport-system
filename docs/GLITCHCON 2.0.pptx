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0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7" r:id="rId10"/>
    <p:sldId id="261" r:id="rId11"/>
    <p:sldId id="262" r:id="rId12"/>
    <p:sldId id="268" r:id="rId13"/>
    <p:sldId id="266" r:id="rId14"/>
  </p:sldIdLst>
  <p:sldSz cx="18288000" cy="10287000"/>
  <p:notesSz cx="6858000" cy="9144000"/>
  <p:embeddedFontLst>
    <p:embeddedFont>
      <p:font typeface="Arimo" panose="020B0604020202020204" charset="0"/>
      <p:regular r:id="rId15"/>
    </p:embeddedFont>
    <p:embeddedFont>
      <p:font typeface="Bahnschrift SemiBold" panose="020B0502040204020203" pitchFamily="34" charset="0"/>
      <p:bold r:id="rId16"/>
    </p:embeddedFont>
    <p:embeddedFont>
      <p:font typeface="Montserrat Bold" panose="020B0604020202020204" charset="0"/>
      <p:regular r:id="rId17"/>
      <p:bold r:id="rId18"/>
    </p:embeddedFont>
    <p:embeddedFont>
      <p:font typeface="Playfair Display Bold" panose="020B0604020202020204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957102F-43BD-B36D-5265-7AA713B9A697}" name="RAHUL M" initials="R2" userId="S::rahul.m2025a@vitstudent.ac.in::654a89b8-b5fb-4148-bb2f-9bc41721b9a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D3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40" d="100"/>
          <a:sy n="40" d="100"/>
        </p:scale>
        <p:origin x="1522" y="5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CD0CB55-B32F-4731-AFCA-ADCEC65738C3}" authorId="{9957102F-43BD-B36D-5265-7AA713B9A697}" created="2026-03-08T18:24:58.586">
    <pc:sldMkLst xmlns:pc="http://schemas.microsoft.com/office/powerpoint/2013/main/command">
      <pc:docMk/>
      <pc:sldMk cId="0" sldId="256"/>
    </pc:sldMkLst>
    <p188:txBody>
      <a:bodyPr/>
      <a:lstStyle/>
      <a:p>
        <a:r>
          <a:rPr lang="en-SG"/>
          <a:t>Go to File-&gt;Create a copy-&gt;Download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microsoft.com/office/2018/10/relationships/comments" Target="../comments/modernComment_100_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grpSp>
        <p:nvGrpSpPr>
          <p:cNvPr id="3" name="Group 3"/>
          <p:cNvGrpSpPr/>
          <p:nvPr/>
        </p:nvGrpSpPr>
        <p:grpSpPr>
          <a:xfrm>
            <a:off x="632753" y="636360"/>
            <a:ext cx="17103324" cy="1479628"/>
            <a:chOff x="0" y="0"/>
            <a:chExt cx="22804433" cy="1972837"/>
          </a:xfrm>
        </p:grpSpPr>
        <p:grpSp>
          <p:nvGrpSpPr>
            <p:cNvPr id="4" name="Group 4"/>
            <p:cNvGrpSpPr/>
            <p:nvPr/>
          </p:nvGrpSpPr>
          <p:grpSpPr>
            <a:xfrm>
              <a:off x="14170825" y="0"/>
              <a:ext cx="8633608" cy="1747411"/>
              <a:chOff x="0" y="0"/>
              <a:chExt cx="979436" cy="198234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979436" cy="198234"/>
              </a:xfrm>
              <a:custGeom>
                <a:avLst/>
                <a:gdLst/>
                <a:ahLst/>
                <a:cxnLst/>
                <a:rect l="l" t="t" r="r" b="b"/>
                <a:pathLst>
                  <a:path w="979436" h="198234">
                    <a:moveTo>
                      <a:pt x="88476" y="0"/>
                    </a:moveTo>
                    <a:lnTo>
                      <a:pt x="890959" y="0"/>
                    </a:lnTo>
                    <a:cubicBezTo>
                      <a:pt x="939824" y="0"/>
                      <a:pt x="979436" y="39612"/>
                      <a:pt x="979436" y="88476"/>
                    </a:cubicBezTo>
                    <a:lnTo>
                      <a:pt x="979436" y="109758"/>
                    </a:lnTo>
                    <a:cubicBezTo>
                      <a:pt x="979436" y="133223"/>
                      <a:pt x="970114" y="155728"/>
                      <a:pt x="953522" y="172320"/>
                    </a:cubicBezTo>
                    <a:cubicBezTo>
                      <a:pt x="936929" y="188913"/>
                      <a:pt x="914425" y="198234"/>
                      <a:pt x="890959" y="198234"/>
                    </a:cubicBezTo>
                    <a:lnTo>
                      <a:pt x="88476" y="198234"/>
                    </a:lnTo>
                    <a:cubicBezTo>
                      <a:pt x="39612" y="198234"/>
                      <a:pt x="0" y="158622"/>
                      <a:pt x="0" y="109758"/>
                    </a:cubicBezTo>
                    <a:lnTo>
                      <a:pt x="0" y="88476"/>
                    </a:lnTo>
                    <a:cubicBezTo>
                      <a:pt x="0" y="39612"/>
                      <a:pt x="39612" y="0"/>
                      <a:pt x="8847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C52FF">
                      <a:alpha val="34000"/>
                    </a:srgbClr>
                  </a:gs>
                  <a:gs pos="100000">
                    <a:srgbClr val="00BF63">
                      <a:alpha val="34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47625"/>
                <a:ext cx="979436" cy="245859"/>
              </a:xfrm>
              <a:prstGeom prst="rect">
                <a:avLst/>
              </a:prstGeom>
            </p:spPr>
            <p:txBody>
              <a:bodyPr lIns="56452" tIns="56452" rIns="56452" bIns="56452" rtlCol="0" anchor="ctr"/>
              <a:lstStyle/>
              <a:p>
                <a:pPr algn="ctr">
                  <a:lnSpc>
                    <a:spcPts val="3440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8542125" y="1128773"/>
              <a:ext cx="1391797" cy="405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37"/>
                </a:lnSpc>
              </a:pPr>
              <a:r>
                <a:rPr lang="en-US" sz="181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18487629" y="213128"/>
              <a:ext cx="1446293" cy="953744"/>
            </a:xfrm>
            <a:custGeom>
              <a:avLst/>
              <a:gdLst/>
              <a:ahLst/>
              <a:cxnLst/>
              <a:rect l="l" t="t" r="r" b="b"/>
              <a:pathLst>
                <a:path w="1446293" h="953744">
                  <a:moveTo>
                    <a:pt x="0" y="0"/>
                  </a:moveTo>
                  <a:lnTo>
                    <a:pt x="1446293" y="0"/>
                  </a:lnTo>
                  <a:lnTo>
                    <a:pt x="1446293" y="953745"/>
                  </a:lnTo>
                  <a:lnTo>
                    <a:pt x="0" y="95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SG"/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20167830" y="331442"/>
              <a:ext cx="1084526" cy="1084526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11" name="Freeform 11"/>
            <p:cNvSpPr/>
            <p:nvPr/>
          </p:nvSpPr>
          <p:spPr>
            <a:xfrm>
              <a:off x="15300917" y="286116"/>
              <a:ext cx="2952803" cy="1011539"/>
            </a:xfrm>
            <a:custGeom>
              <a:avLst/>
              <a:gdLst/>
              <a:ahLst/>
              <a:cxnLst/>
              <a:rect l="l" t="t" r="r" b="b"/>
              <a:pathLst>
                <a:path w="2952803" h="1011539">
                  <a:moveTo>
                    <a:pt x="0" y="0"/>
                  </a:moveTo>
                  <a:lnTo>
                    <a:pt x="2952803" y="0"/>
                  </a:lnTo>
                  <a:lnTo>
                    <a:pt x="2952803" y="1011539"/>
                  </a:lnTo>
                  <a:lnTo>
                    <a:pt x="0" y="1011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95" t="-40049" r="-7054" b="-38629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0"/>
              <a:ext cx="7273132" cy="1972837"/>
            </a:xfrm>
            <a:custGeom>
              <a:avLst/>
              <a:gdLst/>
              <a:ahLst/>
              <a:cxnLst/>
              <a:rect l="l" t="t" r="r" b="b"/>
              <a:pathLst>
                <a:path w="7273132" h="1972837">
                  <a:moveTo>
                    <a:pt x="0" y="0"/>
                  </a:moveTo>
                  <a:lnTo>
                    <a:pt x="7273132" y="0"/>
                  </a:lnTo>
                  <a:lnTo>
                    <a:pt x="7273132" y="1972837"/>
                  </a:lnTo>
                  <a:lnTo>
                    <a:pt x="0" y="1972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-3657600" y="3588051"/>
            <a:ext cx="19976215" cy="1744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88"/>
              </a:lnSpc>
            </a:pPr>
            <a:r>
              <a:rPr lang="en-US" sz="13588" b="1" dirty="0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AFFF5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NEST -</a:t>
            </a:r>
            <a:endParaRPr lang="en-US" sz="13588" b="1" dirty="0">
              <a:solidFill>
                <a:srgbClr val="8BD3B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257410" y="7408001"/>
            <a:ext cx="7115499" cy="854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68"/>
              </a:lnSpc>
            </a:pPr>
            <a:r>
              <a:rPr lang="en-US" sz="4800" b="1" dirty="0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AFFF5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TEAM NAME: Runtime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C9D9E0-D5EE-05DA-7C28-CCDE9F68BCE9}"/>
              </a:ext>
            </a:extLst>
          </p:cNvPr>
          <p:cNvSpPr txBox="1"/>
          <p:nvPr/>
        </p:nvSpPr>
        <p:spPr>
          <a:xfrm>
            <a:off x="9348355" y="3602338"/>
            <a:ext cx="8458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8BD3BF"/>
                </a:solidFill>
              </a:rPr>
              <a:t>N</a:t>
            </a:r>
            <a:r>
              <a:rPr lang="en-US" sz="4800" dirty="0">
                <a:solidFill>
                  <a:srgbClr val="8BD3BF"/>
                </a:solidFill>
              </a:rPr>
              <a:t>etworked </a:t>
            </a:r>
            <a:r>
              <a:rPr lang="en-US" sz="4800" b="1" dirty="0">
                <a:solidFill>
                  <a:srgbClr val="8BD3BF"/>
                </a:solidFill>
              </a:rPr>
              <a:t>E</a:t>
            </a:r>
            <a:r>
              <a:rPr lang="en-US" sz="4800" dirty="0">
                <a:solidFill>
                  <a:srgbClr val="8BD3BF"/>
                </a:solidFill>
              </a:rPr>
              <a:t>scrow for </a:t>
            </a:r>
          </a:p>
          <a:p>
            <a:r>
              <a:rPr lang="en-US" sz="4800" b="1" dirty="0">
                <a:solidFill>
                  <a:srgbClr val="8BD3BF"/>
                </a:solidFill>
              </a:rPr>
              <a:t>S</a:t>
            </a:r>
            <a:r>
              <a:rPr lang="en-US" sz="4800" dirty="0">
                <a:solidFill>
                  <a:srgbClr val="8BD3BF"/>
                </a:solidFill>
              </a:rPr>
              <a:t>ecure </a:t>
            </a:r>
            <a:r>
              <a:rPr lang="en-US" sz="4800" b="1" dirty="0">
                <a:solidFill>
                  <a:srgbClr val="8BD3BF"/>
                </a:solidFill>
              </a:rPr>
              <a:t>T</a:t>
            </a:r>
            <a:r>
              <a:rPr lang="en-US" sz="4800" dirty="0">
                <a:solidFill>
                  <a:srgbClr val="8BD3BF"/>
                </a:solidFill>
              </a:rPr>
              <a:t>ransactions</a:t>
            </a:r>
            <a:endParaRPr lang="en-IN" sz="4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DCAFC7-6A89-BAAA-4416-E92A3C7A125D}"/>
              </a:ext>
            </a:extLst>
          </p:cNvPr>
          <p:cNvSpPr txBox="1"/>
          <p:nvPr/>
        </p:nvSpPr>
        <p:spPr>
          <a:xfrm>
            <a:off x="7585796" y="5211556"/>
            <a:ext cx="7536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8BD3BF"/>
                </a:solidFill>
              </a:rPr>
              <a:t>Your funds, safely nested.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9B94F9-5541-130D-15DB-D081D32F293D}"/>
              </a:ext>
            </a:extLst>
          </p:cNvPr>
          <p:cNvSpPr/>
          <p:nvPr/>
        </p:nvSpPr>
        <p:spPr>
          <a:xfrm>
            <a:off x="3200400" y="3264638"/>
            <a:ext cx="12268200" cy="2514600"/>
          </a:xfrm>
          <a:prstGeom prst="rect">
            <a:avLst/>
          </a:prstGeom>
          <a:noFill/>
          <a:ln>
            <a:solidFill>
              <a:srgbClr val="8BD3BF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TextBox 3"/>
          <p:cNvSpPr txBox="1"/>
          <p:nvPr/>
        </p:nvSpPr>
        <p:spPr>
          <a:xfrm>
            <a:off x="2483857" y="2686618"/>
            <a:ext cx="12596178" cy="961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68"/>
              </a:lnSpc>
            </a:pPr>
            <a:r>
              <a:rPr lang="en-US" sz="7268" b="1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AFFF5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GUIDELINES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32753" y="4160270"/>
            <a:ext cx="14975733" cy="5543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7666" lvl="1" indent="-338833" algn="l">
              <a:lnSpc>
                <a:spcPts val="4394"/>
              </a:lnSpc>
              <a:buFont typeface="Arial"/>
              <a:buChar char="•"/>
            </a:pPr>
            <a:r>
              <a:rPr lang="en-US" sz="3138" dirty="0">
                <a:solidFill>
                  <a:schemeClr val="bg1"/>
                </a:solidFill>
                <a:latin typeface="Arimo"/>
                <a:ea typeface="Arimo"/>
                <a:cs typeface="Arimo"/>
                <a:sym typeface="Arimo"/>
              </a:rPr>
              <a:t>GitHub Submission: Submit your GitHub repository 8 hours before final evaluation.</a:t>
            </a:r>
          </a:p>
          <a:p>
            <a:pPr marL="677666" lvl="1" indent="-338833" algn="l">
              <a:lnSpc>
                <a:spcPts val="4394"/>
              </a:lnSpc>
              <a:buFont typeface="Arial"/>
              <a:buChar char="•"/>
            </a:pPr>
            <a:r>
              <a:rPr lang="en-US" sz="3138" dirty="0">
                <a:solidFill>
                  <a:schemeClr val="bg1"/>
                </a:solidFill>
                <a:latin typeface="Arimo"/>
                <a:ea typeface="Arimo"/>
                <a:cs typeface="Arimo"/>
                <a:sym typeface="Arimo"/>
              </a:rPr>
              <a:t>Deployment: Deploy the complete project repository (frontend deployment optional).</a:t>
            </a:r>
          </a:p>
          <a:p>
            <a:pPr marL="677666" lvl="1" indent="-338833" algn="l">
              <a:lnSpc>
                <a:spcPts val="4394"/>
              </a:lnSpc>
              <a:buFont typeface="Arial"/>
              <a:buChar char="•"/>
            </a:pPr>
            <a:r>
              <a:rPr lang="en-US" sz="3138" dirty="0">
                <a:solidFill>
                  <a:schemeClr val="bg1"/>
                </a:solidFill>
                <a:latin typeface="Arimo"/>
                <a:ea typeface="Arimo"/>
                <a:cs typeface="Arimo"/>
                <a:sym typeface="Arimo"/>
              </a:rPr>
              <a:t>Plagiarism Check: All submissions will undergo plagiarism verification.</a:t>
            </a:r>
          </a:p>
          <a:p>
            <a:pPr marL="677666" lvl="1" indent="-338833" algn="l">
              <a:lnSpc>
                <a:spcPts val="4394"/>
              </a:lnSpc>
              <a:buFont typeface="Arial"/>
              <a:buChar char="•"/>
            </a:pPr>
            <a:r>
              <a:rPr lang="en-US" sz="3138" dirty="0">
                <a:solidFill>
                  <a:schemeClr val="bg1"/>
                </a:solidFill>
                <a:latin typeface="Arimo"/>
                <a:ea typeface="Arimo"/>
                <a:cs typeface="Arimo"/>
                <a:sym typeface="Arimo"/>
              </a:rPr>
              <a:t>Pitch Format: Round 1 &amp; Round 2 will include a 7-minute project pitch + evaluation.</a:t>
            </a:r>
          </a:p>
          <a:p>
            <a:pPr marL="677666" lvl="1" indent="-338833" algn="l">
              <a:lnSpc>
                <a:spcPts val="4394"/>
              </a:lnSpc>
              <a:buFont typeface="Arial"/>
              <a:buChar char="•"/>
            </a:pPr>
            <a:r>
              <a:rPr lang="en-US" sz="3138" dirty="0">
                <a:solidFill>
                  <a:schemeClr val="bg1"/>
                </a:solidFill>
                <a:latin typeface="Arimo"/>
                <a:ea typeface="Arimo"/>
                <a:cs typeface="Arimo"/>
                <a:sym typeface="Arimo"/>
              </a:rPr>
              <a:t>Team Requirement: Minimum 3 team members must be present during evaluation.</a:t>
            </a:r>
          </a:p>
          <a:p>
            <a:pPr algn="l">
              <a:lnSpc>
                <a:spcPts val="4394"/>
              </a:lnSpc>
              <a:spcBef>
                <a:spcPct val="0"/>
              </a:spcBef>
            </a:pPr>
            <a:endParaRPr lang="en-US" sz="3138" dirty="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632753" y="636360"/>
            <a:ext cx="17103324" cy="1479628"/>
            <a:chOff x="0" y="0"/>
            <a:chExt cx="22804433" cy="1972837"/>
          </a:xfrm>
        </p:grpSpPr>
        <p:grpSp>
          <p:nvGrpSpPr>
            <p:cNvPr id="6" name="Group 6"/>
            <p:cNvGrpSpPr/>
            <p:nvPr/>
          </p:nvGrpSpPr>
          <p:grpSpPr>
            <a:xfrm>
              <a:off x="14170825" y="0"/>
              <a:ext cx="8633608" cy="1747411"/>
              <a:chOff x="0" y="0"/>
              <a:chExt cx="979436" cy="198234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79436" cy="198234"/>
              </a:xfrm>
              <a:custGeom>
                <a:avLst/>
                <a:gdLst/>
                <a:ahLst/>
                <a:cxnLst/>
                <a:rect l="l" t="t" r="r" b="b"/>
                <a:pathLst>
                  <a:path w="979436" h="198234">
                    <a:moveTo>
                      <a:pt x="88476" y="0"/>
                    </a:moveTo>
                    <a:lnTo>
                      <a:pt x="890959" y="0"/>
                    </a:lnTo>
                    <a:cubicBezTo>
                      <a:pt x="939824" y="0"/>
                      <a:pt x="979436" y="39612"/>
                      <a:pt x="979436" y="88476"/>
                    </a:cubicBezTo>
                    <a:lnTo>
                      <a:pt x="979436" y="109758"/>
                    </a:lnTo>
                    <a:cubicBezTo>
                      <a:pt x="979436" y="133223"/>
                      <a:pt x="970114" y="155728"/>
                      <a:pt x="953522" y="172320"/>
                    </a:cubicBezTo>
                    <a:cubicBezTo>
                      <a:pt x="936929" y="188913"/>
                      <a:pt x="914425" y="198234"/>
                      <a:pt x="890959" y="198234"/>
                    </a:cubicBezTo>
                    <a:lnTo>
                      <a:pt x="88476" y="198234"/>
                    </a:lnTo>
                    <a:cubicBezTo>
                      <a:pt x="39612" y="198234"/>
                      <a:pt x="0" y="158622"/>
                      <a:pt x="0" y="109758"/>
                    </a:cubicBezTo>
                    <a:lnTo>
                      <a:pt x="0" y="88476"/>
                    </a:lnTo>
                    <a:cubicBezTo>
                      <a:pt x="0" y="39612"/>
                      <a:pt x="39612" y="0"/>
                      <a:pt x="8847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C52FF">
                      <a:alpha val="34000"/>
                    </a:srgbClr>
                  </a:gs>
                  <a:gs pos="100000">
                    <a:srgbClr val="00BF63">
                      <a:alpha val="34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979436" cy="245859"/>
              </a:xfrm>
              <a:prstGeom prst="rect">
                <a:avLst/>
              </a:prstGeom>
            </p:spPr>
            <p:txBody>
              <a:bodyPr lIns="56452" tIns="56452" rIns="56452" bIns="56452" rtlCol="0" anchor="ctr"/>
              <a:lstStyle/>
              <a:p>
                <a:pPr algn="ctr">
                  <a:lnSpc>
                    <a:spcPts val="3440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8542125" y="1128773"/>
              <a:ext cx="1391797" cy="405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37"/>
                </a:lnSpc>
              </a:pPr>
              <a:r>
                <a:rPr lang="en-US" sz="181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18487629" y="213128"/>
              <a:ext cx="1446293" cy="953744"/>
            </a:xfrm>
            <a:custGeom>
              <a:avLst/>
              <a:gdLst/>
              <a:ahLst/>
              <a:cxnLst/>
              <a:rect l="l" t="t" r="r" b="b"/>
              <a:pathLst>
                <a:path w="1446293" h="953744">
                  <a:moveTo>
                    <a:pt x="0" y="0"/>
                  </a:moveTo>
                  <a:lnTo>
                    <a:pt x="1446293" y="0"/>
                  </a:lnTo>
                  <a:lnTo>
                    <a:pt x="1446293" y="953745"/>
                  </a:lnTo>
                  <a:lnTo>
                    <a:pt x="0" y="95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SG"/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20167830" y="331442"/>
              <a:ext cx="1084526" cy="1084526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15300917" y="286116"/>
              <a:ext cx="2952803" cy="1011539"/>
            </a:xfrm>
            <a:custGeom>
              <a:avLst/>
              <a:gdLst/>
              <a:ahLst/>
              <a:cxnLst/>
              <a:rect l="l" t="t" r="r" b="b"/>
              <a:pathLst>
                <a:path w="2952803" h="1011539">
                  <a:moveTo>
                    <a:pt x="0" y="0"/>
                  </a:moveTo>
                  <a:lnTo>
                    <a:pt x="2952803" y="0"/>
                  </a:lnTo>
                  <a:lnTo>
                    <a:pt x="2952803" y="1011539"/>
                  </a:lnTo>
                  <a:lnTo>
                    <a:pt x="0" y="1011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5" t="-40049" r="-7054" b="-38629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7273132" cy="1972837"/>
            </a:xfrm>
            <a:custGeom>
              <a:avLst/>
              <a:gdLst/>
              <a:ahLst/>
              <a:cxnLst/>
              <a:rect l="l" t="t" r="r" b="b"/>
              <a:pathLst>
                <a:path w="7273132" h="1972837">
                  <a:moveTo>
                    <a:pt x="0" y="0"/>
                  </a:moveTo>
                  <a:lnTo>
                    <a:pt x="7273132" y="0"/>
                  </a:lnTo>
                  <a:lnTo>
                    <a:pt x="7273132" y="1972837"/>
                  </a:lnTo>
                  <a:lnTo>
                    <a:pt x="0" y="1972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 dirty="0"/>
          </a:p>
        </p:txBody>
      </p:sp>
      <p:sp>
        <p:nvSpPr>
          <p:cNvPr id="3" name="TextBox 3"/>
          <p:cNvSpPr txBox="1"/>
          <p:nvPr/>
        </p:nvSpPr>
        <p:spPr>
          <a:xfrm>
            <a:off x="-1447800" y="2306232"/>
            <a:ext cx="12268200" cy="8922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68"/>
              </a:lnSpc>
            </a:pPr>
            <a:r>
              <a:rPr lang="en-US" sz="5400" b="1" dirty="0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AFFF5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PROBLEM STATEMENT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32753" y="636360"/>
            <a:ext cx="17103324" cy="1479628"/>
            <a:chOff x="0" y="0"/>
            <a:chExt cx="22804433" cy="1972837"/>
          </a:xfrm>
        </p:grpSpPr>
        <p:grpSp>
          <p:nvGrpSpPr>
            <p:cNvPr id="5" name="Group 5"/>
            <p:cNvGrpSpPr/>
            <p:nvPr/>
          </p:nvGrpSpPr>
          <p:grpSpPr>
            <a:xfrm>
              <a:off x="14170825" y="0"/>
              <a:ext cx="8633608" cy="1747411"/>
              <a:chOff x="0" y="0"/>
              <a:chExt cx="979436" cy="19823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979436" cy="198234"/>
              </a:xfrm>
              <a:custGeom>
                <a:avLst/>
                <a:gdLst/>
                <a:ahLst/>
                <a:cxnLst/>
                <a:rect l="l" t="t" r="r" b="b"/>
                <a:pathLst>
                  <a:path w="979436" h="198234">
                    <a:moveTo>
                      <a:pt x="88476" y="0"/>
                    </a:moveTo>
                    <a:lnTo>
                      <a:pt x="890959" y="0"/>
                    </a:lnTo>
                    <a:cubicBezTo>
                      <a:pt x="939824" y="0"/>
                      <a:pt x="979436" y="39612"/>
                      <a:pt x="979436" y="88476"/>
                    </a:cubicBezTo>
                    <a:lnTo>
                      <a:pt x="979436" y="109758"/>
                    </a:lnTo>
                    <a:cubicBezTo>
                      <a:pt x="979436" y="133223"/>
                      <a:pt x="970114" y="155728"/>
                      <a:pt x="953522" y="172320"/>
                    </a:cubicBezTo>
                    <a:cubicBezTo>
                      <a:pt x="936929" y="188913"/>
                      <a:pt x="914425" y="198234"/>
                      <a:pt x="890959" y="198234"/>
                    </a:cubicBezTo>
                    <a:lnTo>
                      <a:pt x="88476" y="198234"/>
                    </a:lnTo>
                    <a:cubicBezTo>
                      <a:pt x="39612" y="198234"/>
                      <a:pt x="0" y="158622"/>
                      <a:pt x="0" y="109758"/>
                    </a:cubicBezTo>
                    <a:lnTo>
                      <a:pt x="0" y="88476"/>
                    </a:lnTo>
                    <a:cubicBezTo>
                      <a:pt x="0" y="39612"/>
                      <a:pt x="39612" y="0"/>
                      <a:pt x="8847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C52FF">
                      <a:alpha val="34000"/>
                    </a:srgbClr>
                  </a:gs>
                  <a:gs pos="100000">
                    <a:srgbClr val="00BF63">
                      <a:alpha val="34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979436" cy="245859"/>
              </a:xfrm>
              <a:prstGeom prst="rect">
                <a:avLst/>
              </a:prstGeom>
            </p:spPr>
            <p:txBody>
              <a:bodyPr lIns="56452" tIns="56452" rIns="56452" bIns="56452" rtlCol="0" anchor="ctr"/>
              <a:lstStyle/>
              <a:p>
                <a:pPr algn="ctr">
                  <a:lnSpc>
                    <a:spcPts val="3440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8542125" y="1128773"/>
              <a:ext cx="1391797" cy="405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37"/>
                </a:lnSpc>
              </a:pPr>
              <a:r>
                <a:rPr lang="en-US" sz="181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18487629" y="213128"/>
              <a:ext cx="1446293" cy="953744"/>
            </a:xfrm>
            <a:custGeom>
              <a:avLst/>
              <a:gdLst/>
              <a:ahLst/>
              <a:cxnLst/>
              <a:rect l="l" t="t" r="r" b="b"/>
              <a:pathLst>
                <a:path w="1446293" h="953744">
                  <a:moveTo>
                    <a:pt x="0" y="0"/>
                  </a:moveTo>
                  <a:lnTo>
                    <a:pt x="1446293" y="0"/>
                  </a:lnTo>
                  <a:lnTo>
                    <a:pt x="1446293" y="953745"/>
                  </a:lnTo>
                  <a:lnTo>
                    <a:pt x="0" y="95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SG"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20167830" y="331442"/>
              <a:ext cx="1084526" cy="1084526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15300917" y="286116"/>
              <a:ext cx="2952803" cy="1011539"/>
            </a:xfrm>
            <a:custGeom>
              <a:avLst/>
              <a:gdLst/>
              <a:ahLst/>
              <a:cxnLst/>
              <a:rect l="l" t="t" r="r" b="b"/>
              <a:pathLst>
                <a:path w="2952803" h="1011539">
                  <a:moveTo>
                    <a:pt x="0" y="0"/>
                  </a:moveTo>
                  <a:lnTo>
                    <a:pt x="2952803" y="0"/>
                  </a:lnTo>
                  <a:lnTo>
                    <a:pt x="2952803" y="1011539"/>
                  </a:lnTo>
                  <a:lnTo>
                    <a:pt x="0" y="1011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5" t="-40049" r="-7054" b="-38629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7273132" cy="1972837"/>
            </a:xfrm>
            <a:custGeom>
              <a:avLst/>
              <a:gdLst/>
              <a:ahLst/>
              <a:cxnLst/>
              <a:rect l="l" t="t" r="r" b="b"/>
              <a:pathLst>
                <a:path w="7273132" h="1972837">
                  <a:moveTo>
                    <a:pt x="0" y="0"/>
                  </a:moveTo>
                  <a:lnTo>
                    <a:pt x="7273132" y="0"/>
                  </a:lnTo>
                  <a:lnTo>
                    <a:pt x="7273132" y="1972837"/>
                  </a:lnTo>
                  <a:lnTo>
                    <a:pt x="0" y="1972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675108FA-84CA-CFDB-505D-0BF2015C96DC}"/>
              </a:ext>
            </a:extLst>
          </p:cNvPr>
          <p:cNvSpPr txBox="1"/>
          <p:nvPr/>
        </p:nvSpPr>
        <p:spPr>
          <a:xfrm>
            <a:off x="845835" y="3434134"/>
            <a:ext cx="16903890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8BD3BF"/>
                </a:solidFill>
              </a:rPr>
              <a:t>Infrastructure and transportation logistics often face </a:t>
            </a:r>
            <a:r>
              <a:rPr lang="en-US" sz="3200" b="1" dirty="0">
                <a:solidFill>
                  <a:schemeClr val="bg1"/>
                </a:solidFill>
              </a:rPr>
              <a:t>payment disputes, delayed settlements, and lack of transparency</a:t>
            </a:r>
            <a:r>
              <a:rPr lang="en-US" sz="3200" dirty="0">
                <a:solidFill>
                  <a:srgbClr val="8BD3BF"/>
                </a:solidFill>
              </a:rPr>
              <a:t> between customers and suppliers. Traditional systems rely on </a:t>
            </a:r>
            <a:r>
              <a:rPr lang="en-US" sz="3200" b="1" dirty="0">
                <a:solidFill>
                  <a:schemeClr val="bg1"/>
                </a:solidFill>
              </a:rPr>
              <a:t>manual verification of delivery records</a:t>
            </a:r>
            <a:r>
              <a:rPr lang="en-US" sz="3200" dirty="0">
                <a:solidFill>
                  <a:srgbClr val="8BD3BF"/>
                </a:solidFill>
              </a:rPr>
              <a:t>, leading to inefficiencies, mistrust, and payment delays.</a:t>
            </a:r>
          </a:p>
          <a:p>
            <a:r>
              <a:rPr lang="en-US" sz="3200" dirty="0">
                <a:solidFill>
                  <a:srgbClr val="8BD3BF"/>
                </a:solidFill>
              </a:rPr>
              <a:t>Therefore, a </a:t>
            </a:r>
            <a:r>
              <a:rPr lang="en-US" sz="3200" b="1" dirty="0">
                <a:solidFill>
                  <a:schemeClr val="bg1"/>
                </a:solidFill>
              </a:rPr>
              <a:t>secure and automated payment mechanism</a:t>
            </a:r>
            <a:r>
              <a:rPr lang="en-US" sz="3200" dirty="0">
                <a:solidFill>
                  <a:srgbClr val="8BD3BF"/>
                </a:solidFill>
              </a:rPr>
              <a:t> is needed to ensure payments are </a:t>
            </a:r>
            <a:r>
              <a:rPr lang="en-US" sz="3200" b="1" dirty="0">
                <a:solidFill>
                  <a:srgbClr val="8BD3BF"/>
                </a:solidFill>
              </a:rPr>
              <a:t>released only after successful delivery confirmation</a:t>
            </a:r>
            <a:r>
              <a:rPr lang="en-US" sz="3200" dirty="0">
                <a:solidFill>
                  <a:srgbClr val="8BD3BF"/>
                </a:solidFill>
              </a:rPr>
              <a:t>.</a:t>
            </a:r>
          </a:p>
          <a:p>
            <a:r>
              <a:rPr lang="en-US" sz="4000" b="1" u="sng" dirty="0">
                <a:solidFill>
                  <a:srgbClr val="8BD3BF"/>
                </a:solidFill>
              </a:rPr>
              <a:t>Objective:</a:t>
            </a:r>
          </a:p>
          <a:p>
            <a:r>
              <a:rPr lang="en-US" sz="3200" dirty="0">
                <a:solidFill>
                  <a:srgbClr val="8BD3BF"/>
                </a:solidFill>
              </a:rPr>
              <a:t>Design and implement </a:t>
            </a:r>
            <a:r>
              <a:rPr lang="en-US" sz="3200" dirty="0">
                <a:solidFill>
                  <a:schemeClr val="bg1"/>
                </a:solidFill>
              </a:rPr>
              <a:t>a </a:t>
            </a:r>
            <a:r>
              <a:rPr lang="en-US" sz="3200" b="1" dirty="0">
                <a:solidFill>
                  <a:schemeClr val="bg1"/>
                </a:solidFill>
              </a:rPr>
              <a:t>smart contract based escrow payment system</a:t>
            </a:r>
            <a:r>
              <a:rPr lang="en-US" sz="3200" dirty="0">
                <a:solidFill>
                  <a:srgbClr val="8BD3BF"/>
                </a:solidFill>
              </a:rPr>
              <a:t> that: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8BD3BF"/>
                </a:solidFill>
              </a:rPr>
              <a:t>Locks payment securely when an order is placed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8BD3BF"/>
                </a:solidFill>
              </a:rPr>
              <a:t>Releases payment automatically after delivery confirmation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8BD3BF"/>
                </a:solidFill>
              </a:rPr>
              <a:t>Provides transparent and tamper proof payment tracking using blockchain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8BD3BF"/>
                </a:solidFill>
              </a:rPr>
              <a:t>This system aims to </a:t>
            </a:r>
            <a:r>
              <a:rPr lang="en-US" sz="3200" b="1" dirty="0">
                <a:solidFill>
                  <a:srgbClr val="8BD3BF"/>
                </a:solidFill>
              </a:rPr>
              <a:t>improve trust, reduce disputes, and automate payment settlements</a:t>
            </a:r>
            <a:r>
              <a:rPr lang="en-US" sz="3200" dirty="0">
                <a:solidFill>
                  <a:srgbClr val="8BD3BF"/>
                </a:solidFill>
              </a:rPr>
              <a:t> in transportation and infrastructure services.</a:t>
            </a:r>
          </a:p>
          <a:p>
            <a:endParaRPr lang="en-IN" sz="3200" dirty="0">
              <a:solidFill>
                <a:srgbClr val="8BD3B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TextBox 3"/>
          <p:cNvSpPr txBox="1"/>
          <p:nvPr/>
        </p:nvSpPr>
        <p:spPr>
          <a:xfrm>
            <a:off x="-2514600" y="2306232"/>
            <a:ext cx="12596178" cy="892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68"/>
              </a:lnSpc>
            </a:pPr>
            <a:r>
              <a:rPr lang="en-US" sz="5400" b="1" dirty="0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AFFF5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OUR SOLUTION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32753" y="636360"/>
            <a:ext cx="17103324" cy="1479628"/>
            <a:chOff x="0" y="0"/>
            <a:chExt cx="22804433" cy="1972837"/>
          </a:xfrm>
        </p:grpSpPr>
        <p:grpSp>
          <p:nvGrpSpPr>
            <p:cNvPr id="5" name="Group 5"/>
            <p:cNvGrpSpPr/>
            <p:nvPr/>
          </p:nvGrpSpPr>
          <p:grpSpPr>
            <a:xfrm>
              <a:off x="14170825" y="0"/>
              <a:ext cx="8633608" cy="1747411"/>
              <a:chOff x="0" y="0"/>
              <a:chExt cx="979436" cy="19823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979436" cy="198234"/>
              </a:xfrm>
              <a:custGeom>
                <a:avLst/>
                <a:gdLst/>
                <a:ahLst/>
                <a:cxnLst/>
                <a:rect l="l" t="t" r="r" b="b"/>
                <a:pathLst>
                  <a:path w="979436" h="198234">
                    <a:moveTo>
                      <a:pt x="88476" y="0"/>
                    </a:moveTo>
                    <a:lnTo>
                      <a:pt x="890959" y="0"/>
                    </a:lnTo>
                    <a:cubicBezTo>
                      <a:pt x="939824" y="0"/>
                      <a:pt x="979436" y="39612"/>
                      <a:pt x="979436" y="88476"/>
                    </a:cubicBezTo>
                    <a:lnTo>
                      <a:pt x="979436" y="109758"/>
                    </a:lnTo>
                    <a:cubicBezTo>
                      <a:pt x="979436" y="133223"/>
                      <a:pt x="970114" y="155728"/>
                      <a:pt x="953522" y="172320"/>
                    </a:cubicBezTo>
                    <a:cubicBezTo>
                      <a:pt x="936929" y="188913"/>
                      <a:pt x="914425" y="198234"/>
                      <a:pt x="890959" y="198234"/>
                    </a:cubicBezTo>
                    <a:lnTo>
                      <a:pt x="88476" y="198234"/>
                    </a:lnTo>
                    <a:cubicBezTo>
                      <a:pt x="39612" y="198234"/>
                      <a:pt x="0" y="158622"/>
                      <a:pt x="0" y="109758"/>
                    </a:cubicBezTo>
                    <a:lnTo>
                      <a:pt x="0" y="88476"/>
                    </a:lnTo>
                    <a:cubicBezTo>
                      <a:pt x="0" y="39612"/>
                      <a:pt x="39612" y="0"/>
                      <a:pt x="8847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C52FF">
                      <a:alpha val="34000"/>
                    </a:srgbClr>
                  </a:gs>
                  <a:gs pos="100000">
                    <a:srgbClr val="00BF63">
                      <a:alpha val="34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979436" cy="245859"/>
              </a:xfrm>
              <a:prstGeom prst="rect">
                <a:avLst/>
              </a:prstGeom>
            </p:spPr>
            <p:txBody>
              <a:bodyPr lIns="56452" tIns="56452" rIns="56452" bIns="56452" rtlCol="0" anchor="ctr"/>
              <a:lstStyle/>
              <a:p>
                <a:pPr algn="ctr">
                  <a:lnSpc>
                    <a:spcPts val="3440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8542125" y="1128773"/>
              <a:ext cx="1391797" cy="405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37"/>
                </a:lnSpc>
              </a:pPr>
              <a:r>
                <a:rPr lang="en-US" sz="181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18487629" y="213128"/>
              <a:ext cx="1446293" cy="953744"/>
            </a:xfrm>
            <a:custGeom>
              <a:avLst/>
              <a:gdLst/>
              <a:ahLst/>
              <a:cxnLst/>
              <a:rect l="l" t="t" r="r" b="b"/>
              <a:pathLst>
                <a:path w="1446293" h="953744">
                  <a:moveTo>
                    <a:pt x="0" y="0"/>
                  </a:moveTo>
                  <a:lnTo>
                    <a:pt x="1446293" y="0"/>
                  </a:lnTo>
                  <a:lnTo>
                    <a:pt x="1446293" y="953745"/>
                  </a:lnTo>
                  <a:lnTo>
                    <a:pt x="0" y="95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SG"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20167830" y="331442"/>
              <a:ext cx="1084526" cy="1084526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15300917" y="286116"/>
              <a:ext cx="2952803" cy="1011539"/>
            </a:xfrm>
            <a:custGeom>
              <a:avLst/>
              <a:gdLst/>
              <a:ahLst/>
              <a:cxnLst/>
              <a:rect l="l" t="t" r="r" b="b"/>
              <a:pathLst>
                <a:path w="2952803" h="1011539">
                  <a:moveTo>
                    <a:pt x="0" y="0"/>
                  </a:moveTo>
                  <a:lnTo>
                    <a:pt x="2952803" y="0"/>
                  </a:lnTo>
                  <a:lnTo>
                    <a:pt x="2952803" y="1011539"/>
                  </a:lnTo>
                  <a:lnTo>
                    <a:pt x="0" y="1011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5" t="-40049" r="-7054" b="-38629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7273132" cy="1972837"/>
            </a:xfrm>
            <a:custGeom>
              <a:avLst/>
              <a:gdLst/>
              <a:ahLst/>
              <a:cxnLst/>
              <a:rect l="l" t="t" r="r" b="b"/>
              <a:pathLst>
                <a:path w="7273132" h="1972837">
                  <a:moveTo>
                    <a:pt x="0" y="0"/>
                  </a:moveTo>
                  <a:lnTo>
                    <a:pt x="7273132" y="0"/>
                  </a:lnTo>
                  <a:lnTo>
                    <a:pt x="7273132" y="1972837"/>
                  </a:lnTo>
                  <a:lnTo>
                    <a:pt x="0" y="1972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4B6C415-539D-CD1D-634B-FC3EAACDFBEB}"/>
              </a:ext>
            </a:extLst>
          </p:cNvPr>
          <p:cNvSpPr txBox="1"/>
          <p:nvPr/>
        </p:nvSpPr>
        <p:spPr>
          <a:xfrm>
            <a:off x="1066800" y="3467100"/>
            <a:ext cx="163830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8BD3BF"/>
                </a:solidFill>
                <a:latin typeface="Bahnschrift SemiBold" panose="020B0502040204020203" pitchFamily="34" charset="0"/>
              </a:rPr>
              <a:t>Develop a </a:t>
            </a:r>
            <a:r>
              <a:rPr lang="en-US" sz="3600" b="1" dirty="0">
                <a:solidFill>
                  <a:schemeClr val="bg1"/>
                </a:solidFill>
                <a:latin typeface="Bahnschrift SemiBold" panose="020B0502040204020203" pitchFamily="34" charset="0"/>
              </a:rPr>
              <a:t>Blockchain based Smart Contract Escrow Payment System</a:t>
            </a:r>
            <a:r>
              <a:rPr lang="en-US" sz="3600" dirty="0">
                <a:solidFill>
                  <a:schemeClr val="bg1"/>
                </a:solidFill>
                <a:latin typeface="Bahnschrift SemiBold" panose="020B0502040204020203" pitchFamily="34" charset="0"/>
              </a:rPr>
              <a:t> </a:t>
            </a:r>
            <a:r>
              <a:rPr lang="en-US" sz="3600" dirty="0">
                <a:solidFill>
                  <a:srgbClr val="8BD3BF"/>
                </a:solidFill>
                <a:latin typeface="Bahnschrift SemiBold" panose="020B0502040204020203" pitchFamily="34" charset="0"/>
              </a:rPr>
              <a:t>for transportation and logistics services.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b="1" dirty="0">
                <a:solidFill>
                  <a:srgbClr val="8BD3BF"/>
                </a:solidFill>
                <a:latin typeface="Bahnschrift SemiBold" panose="020B0502040204020203" pitchFamily="34" charset="0"/>
              </a:rPr>
              <a:t>Customer payments are </a:t>
            </a:r>
            <a:r>
              <a:rPr lang="en-US" sz="3600" b="1" dirty="0">
                <a:solidFill>
                  <a:schemeClr val="bg1"/>
                </a:solidFill>
                <a:latin typeface="Bahnschrift SemiBold" panose="020B0502040204020203" pitchFamily="34" charset="0"/>
              </a:rPr>
              <a:t>securely locked in a smart contract escrow</a:t>
            </a:r>
            <a:r>
              <a:rPr lang="en-US" sz="3600" dirty="0">
                <a:solidFill>
                  <a:schemeClr val="bg1"/>
                </a:solidFill>
                <a:latin typeface="Bahnschrift SemiBold" panose="020B0502040204020203" pitchFamily="34" charset="0"/>
              </a:rPr>
              <a:t> </a:t>
            </a:r>
            <a:r>
              <a:rPr lang="en-US" sz="3600" dirty="0">
                <a:solidFill>
                  <a:srgbClr val="8BD3BF"/>
                </a:solidFill>
                <a:latin typeface="Bahnschrift SemiBold" panose="020B0502040204020203" pitchFamily="34" charset="0"/>
              </a:rPr>
              <a:t>when an order is placed.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8BD3BF"/>
                </a:solidFill>
                <a:latin typeface="Bahnschrift SemiBold" panose="020B0502040204020203" pitchFamily="34" charset="0"/>
              </a:rPr>
              <a:t>The </a:t>
            </a:r>
            <a:r>
              <a:rPr lang="en-US" sz="3600" b="1" dirty="0">
                <a:solidFill>
                  <a:srgbClr val="8BD3BF"/>
                </a:solidFill>
                <a:latin typeface="Bahnschrift SemiBold" panose="020B0502040204020203" pitchFamily="34" charset="0"/>
              </a:rPr>
              <a:t>driver completes the delivery and submits </a:t>
            </a:r>
            <a:r>
              <a:rPr lang="en-US" sz="3600" b="1" dirty="0">
                <a:solidFill>
                  <a:schemeClr val="bg1"/>
                </a:solidFill>
                <a:latin typeface="Bahnschrift SemiBold" panose="020B0502040204020203" pitchFamily="34" charset="0"/>
              </a:rPr>
              <a:t>proof of delivery</a:t>
            </a:r>
            <a:r>
              <a:rPr lang="en-US" sz="3600" dirty="0">
                <a:solidFill>
                  <a:schemeClr val="bg1"/>
                </a:solidFill>
                <a:latin typeface="Bahnschrift SemiBold" panose="020B0502040204020203" pitchFamily="34" charset="0"/>
              </a:rPr>
              <a:t> </a:t>
            </a:r>
            <a:r>
              <a:rPr lang="en-US" sz="3600" dirty="0">
                <a:solidFill>
                  <a:srgbClr val="8BD3BF"/>
                </a:solidFill>
                <a:latin typeface="Bahnschrift SemiBold" panose="020B0502040204020203" pitchFamily="34" charset="0"/>
              </a:rPr>
              <a:t>through the mobile application.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8BD3BF"/>
                </a:solidFill>
                <a:latin typeface="Bahnschrift SemiBold" panose="020B0502040204020203" pitchFamily="34" charset="0"/>
              </a:rPr>
              <a:t>The </a:t>
            </a:r>
            <a:r>
              <a:rPr lang="en-US" sz="3600" b="1" dirty="0">
                <a:solidFill>
                  <a:srgbClr val="8BD3BF"/>
                </a:solidFill>
                <a:latin typeface="Bahnschrift SemiBold" panose="020B0502040204020203" pitchFamily="34" charset="0"/>
              </a:rPr>
              <a:t>customer verifies the delivery</a:t>
            </a:r>
            <a:r>
              <a:rPr lang="en-US" sz="3600" dirty="0">
                <a:solidFill>
                  <a:srgbClr val="8BD3BF"/>
                </a:solidFill>
                <a:latin typeface="Bahnschrift SemiBold" panose="020B0502040204020203" pitchFamily="34" charset="0"/>
              </a:rPr>
              <a:t> using confirmation methods such as </a:t>
            </a:r>
            <a:r>
              <a:rPr lang="en-US" sz="3600" dirty="0">
                <a:solidFill>
                  <a:schemeClr val="bg1"/>
                </a:solidFill>
                <a:latin typeface="Bahnschrift SemiBold" panose="020B0502040204020203" pitchFamily="34" charset="0"/>
              </a:rPr>
              <a:t>QR</a:t>
            </a:r>
            <a:r>
              <a:rPr lang="en-US" sz="3600" dirty="0">
                <a:solidFill>
                  <a:srgbClr val="8BD3BF"/>
                </a:solidFill>
                <a:latin typeface="Bahnschrift SemiBold" panose="020B0502040204020203" pitchFamily="34" charset="0"/>
              </a:rPr>
              <a:t> </a:t>
            </a:r>
            <a:r>
              <a:rPr lang="en-IN" sz="3600" dirty="0">
                <a:solidFill>
                  <a:schemeClr val="bg1"/>
                </a:solidFill>
                <a:latin typeface="Bahnschrift SemiBold" panose="020B0502040204020203" pitchFamily="34" charset="0"/>
              </a:rPr>
              <a:t>Delivery Confirmation</a:t>
            </a:r>
            <a:r>
              <a:rPr lang="en-US" sz="3600" dirty="0">
                <a:solidFill>
                  <a:srgbClr val="8BD3BF"/>
                </a:solidFill>
                <a:latin typeface="Bahnschrift SemiBold" panose="020B0502040204020203" pitchFamily="34" charset="0"/>
              </a:rPr>
              <a:t>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8BD3BF"/>
                </a:solidFill>
                <a:latin typeface="Bahnschrift SemiBold" panose="020B0502040204020203" pitchFamily="34" charset="0"/>
              </a:rPr>
              <a:t>Once delivery is confirmed, the </a:t>
            </a:r>
            <a:r>
              <a:rPr lang="en-US" sz="3600" b="1" dirty="0">
                <a:solidFill>
                  <a:srgbClr val="8BD3BF"/>
                </a:solidFill>
                <a:latin typeface="Bahnschrift SemiBold" panose="020B0502040204020203" pitchFamily="34" charset="0"/>
              </a:rPr>
              <a:t>smart contract </a:t>
            </a:r>
            <a:r>
              <a:rPr lang="en-US" sz="3600" b="1" dirty="0">
                <a:solidFill>
                  <a:schemeClr val="bg1"/>
                </a:solidFill>
                <a:latin typeface="Bahnschrift SemiBold" panose="020B0502040204020203" pitchFamily="34" charset="0"/>
              </a:rPr>
              <a:t>automatically releases </a:t>
            </a:r>
            <a:r>
              <a:rPr lang="en-US" sz="3600" b="1" dirty="0">
                <a:solidFill>
                  <a:srgbClr val="8BD3BF"/>
                </a:solidFill>
                <a:latin typeface="Bahnschrift SemiBold" panose="020B0502040204020203" pitchFamily="34" charset="0"/>
              </a:rPr>
              <a:t>payment to the driver or supplier</a:t>
            </a:r>
            <a:r>
              <a:rPr lang="en-US" sz="3600" dirty="0">
                <a:solidFill>
                  <a:srgbClr val="8BD3BF"/>
                </a:solidFill>
                <a:latin typeface="Bahnschrift SemiBold" panose="020B0502040204020203" pitchFamily="34" charset="0"/>
              </a:rPr>
              <a:t>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8BD3BF"/>
                </a:solidFill>
                <a:latin typeface="Bahnschrift SemiBold" panose="020B0502040204020203" pitchFamily="34" charset="0"/>
              </a:rPr>
              <a:t>All transactions are </a:t>
            </a:r>
            <a:r>
              <a:rPr lang="en-US" sz="3600" b="1" dirty="0">
                <a:solidFill>
                  <a:srgbClr val="8BD3BF"/>
                </a:solidFill>
                <a:latin typeface="Bahnschrift SemiBold" panose="020B0502040204020203" pitchFamily="34" charset="0"/>
              </a:rPr>
              <a:t>recorded on blockchain for </a:t>
            </a:r>
            <a:r>
              <a:rPr lang="en-US" sz="3600" b="1" dirty="0">
                <a:solidFill>
                  <a:schemeClr val="bg1"/>
                </a:solidFill>
                <a:latin typeface="Bahnschrift SemiBold" panose="020B0502040204020203" pitchFamily="34" charset="0"/>
              </a:rPr>
              <a:t>transparency and trust</a:t>
            </a:r>
            <a:r>
              <a:rPr lang="en-US" sz="3600" dirty="0">
                <a:solidFill>
                  <a:srgbClr val="8BD3BF"/>
                </a:solidFill>
                <a:latin typeface="Bahnschrift SemiBold" panose="020B0502040204020203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TextBox 3"/>
          <p:cNvSpPr txBox="1"/>
          <p:nvPr/>
        </p:nvSpPr>
        <p:spPr>
          <a:xfrm>
            <a:off x="-3200400" y="2306232"/>
            <a:ext cx="12652043" cy="892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5400" b="1" dirty="0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AFFF5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Our Features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32753" y="636360"/>
            <a:ext cx="17103324" cy="1479628"/>
            <a:chOff x="0" y="0"/>
            <a:chExt cx="22804433" cy="1972837"/>
          </a:xfrm>
        </p:grpSpPr>
        <p:grpSp>
          <p:nvGrpSpPr>
            <p:cNvPr id="5" name="Group 5"/>
            <p:cNvGrpSpPr/>
            <p:nvPr/>
          </p:nvGrpSpPr>
          <p:grpSpPr>
            <a:xfrm>
              <a:off x="14170825" y="0"/>
              <a:ext cx="8633608" cy="1747411"/>
              <a:chOff x="0" y="0"/>
              <a:chExt cx="979436" cy="19823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979436" cy="198234"/>
              </a:xfrm>
              <a:custGeom>
                <a:avLst/>
                <a:gdLst/>
                <a:ahLst/>
                <a:cxnLst/>
                <a:rect l="l" t="t" r="r" b="b"/>
                <a:pathLst>
                  <a:path w="979436" h="198234">
                    <a:moveTo>
                      <a:pt x="88476" y="0"/>
                    </a:moveTo>
                    <a:lnTo>
                      <a:pt x="890959" y="0"/>
                    </a:lnTo>
                    <a:cubicBezTo>
                      <a:pt x="939824" y="0"/>
                      <a:pt x="979436" y="39612"/>
                      <a:pt x="979436" y="88476"/>
                    </a:cubicBezTo>
                    <a:lnTo>
                      <a:pt x="979436" y="109758"/>
                    </a:lnTo>
                    <a:cubicBezTo>
                      <a:pt x="979436" y="133223"/>
                      <a:pt x="970114" y="155728"/>
                      <a:pt x="953522" y="172320"/>
                    </a:cubicBezTo>
                    <a:cubicBezTo>
                      <a:pt x="936929" y="188913"/>
                      <a:pt x="914425" y="198234"/>
                      <a:pt x="890959" y="198234"/>
                    </a:cubicBezTo>
                    <a:lnTo>
                      <a:pt x="88476" y="198234"/>
                    </a:lnTo>
                    <a:cubicBezTo>
                      <a:pt x="39612" y="198234"/>
                      <a:pt x="0" y="158622"/>
                      <a:pt x="0" y="109758"/>
                    </a:cubicBezTo>
                    <a:lnTo>
                      <a:pt x="0" y="88476"/>
                    </a:lnTo>
                    <a:cubicBezTo>
                      <a:pt x="0" y="39612"/>
                      <a:pt x="39612" y="0"/>
                      <a:pt x="8847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C52FF">
                      <a:alpha val="34000"/>
                    </a:srgbClr>
                  </a:gs>
                  <a:gs pos="100000">
                    <a:srgbClr val="00BF63">
                      <a:alpha val="34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979436" cy="245859"/>
              </a:xfrm>
              <a:prstGeom prst="rect">
                <a:avLst/>
              </a:prstGeom>
            </p:spPr>
            <p:txBody>
              <a:bodyPr lIns="56452" tIns="56452" rIns="56452" bIns="56452" rtlCol="0" anchor="ctr"/>
              <a:lstStyle/>
              <a:p>
                <a:pPr algn="ctr">
                  <a:lnSpc>
                    <a:spcPts val="3440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8542125" y="1128773"/>
              <a:ext cx="1391797" cy="405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37"/>
                </a:lnSpc>
              </a:pPr>
              <a:r>
                <a:rPr lang="en-US" sz="181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18487629" y="213128"/>
              <a:ext cx="1446293" cy="953744"/>
            </a:xfrm>
            <a:custGeom>
              <a:avLst/>
              <a:gdLst/>
              <a:ahLst/>
              <a:cxnLst/>
              <a:rect l="l" t="t" r="r" b="b"/>
              <a:pathLst>
                <a:path w="1446293" h="953744">
                  <a:moveTo>
                    <a:pt x="0" y="0"/>
                  </a:moveTo>
                  <a:lnTo>
                    <a:pt x="1446293" y="0"/>
                  </a:lnTo>
                  <a:lnTo>
                    <a:pt x="1446293" y="953745"/>
                  </a:lnTo>
                  <a:lnTo>
                    <a:pt x="0" y="95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SG"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20167830" y="331442"/>
              <a:ext cx="1084526" cy="1084526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15300917" y="286116"/>
              <a:ext cx="2952803" cy="1011539"/>
            </a:xfrm>
            <a:custGeom>
              <a:avLst/>
              <a:gdLst/>
              <a:ahLst/>
              <a:cxnLst/>
              <a:rect l="l" t="t" r="r" b="b"/>
              <a:pathLst>
                <a:path w="2952803" h="1011539">
                  <a:moveTo>
                    <a:pt x="0" y="0"/>
                  </a:moveTo>
                  <a:lnTo>
                    <a:pt x="2952803" y="0"/>
                  </a:lnTo>
                  <a:lnTo>
                    <a:pt x="2952803" y="1011539"/>
                  </a:lnTo>
                  <a:lnTo>
                    <a:pt x="0" y="1011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5" t="-40049" r="-7054" b="-38629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7273132" cy="1972837"/>
            </a:xfrm>
            <a:custGeom>
              <a:avLst/>
              <a:gdLst/>
              <a:ahLst/>
              <a:cxnLst/>
              <a:rect l="l" t="t" r="r" b="b"/>
              <a:pathLst>
                <a:path w="7273132" h="1972837">
                  <a:moveTo>
                    <a:pt x="0" y="0"/>
                  </a:moveTo>
                  <a:lnTo>
                    <a:pt x="7273132" y="0"/>
                  </a:lnTo>
                  <a:lnTo>
                    <a:pt x="7273132" y="1972837"/>
                  </a:lnTo>
                  <a:lnTo>
                    <a:pt x="0" y="1972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CC630DC-1EAB-1994-EA55-8F39E7B1CC37}"/>
              </a:ext>
            </a:extLst>
          </p:cNvPr>
          <p:cNvSpPr txBox="1"/>
          <p:nvPr/>
        </p:nvSpPr>
        <p:spPr>
          <a:xfrm>
            <a:off x="1600200" y="3695700"/>
            <a:ext cx="15468600" cy="595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F23E93-0790-17A3-27BC-AFEB63086228}"/>
              </a:ext>
            </a:extLst>
          </p:cNvPr>
          <p:cNvSpPr txBox="1"/>
          <p:nvPr/>
        </p:nvSpPr>
        <p:spPr>
          <a:xfrm>
            <a:off x="1338050" y="3271596"/>
            <a:ext cx="16002000" cy="5858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5" name="Rectangle 5">
            <a:extLst>
              <a:ext uri="{FF2B5EF4-FFF2-40B4-BE49-F238E27FC236}">
                <a16:creationId xmlns:a16="http://schemas.microsoft.com/office/drawing/2014/main" id="{7B8A7E5D-1B67-DE8A-18AC-73EC45CBE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102526"/>
            <a:ext cx="11043408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rgbClr val="8BD3BF"/>
                </a:solidFill>
                <a:effectLst/>
                <a:latin typeface="Bahnschrift SemiBold" panose="020B0502040204020203" pitchFamily="34" charset="0"/>
              </a:rPr>
              <a:t>Escrow Smart Contract Payment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rgbClr val="8BD3BF"/>
                </a:solidFill>
                <a:effectLst/>
                <a:latin typeface="Bahnschrift SemiBold" panose="020B0502040204020203" pitchFamily="34" charset="0"/>
              </a:rPr>
              <a:t>Automatic Payment Release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rgbClr val="8BD3BF"/>
                </a:solidFill>
                <a:effectLst/>
                <a:latin typeface="Bahnschrift SemiBold" panose="020B0502040204020203" pitchFamily="34" charset="0"/>
              </a:rPr>
              <a:t>Blockchain Transaction Tracking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5400" b="0" i="0" u="none" strike="noStrike" cap="none" normalizeH="0" baseline="0" dirty="0" err="1">
                <a:ln>
                  <a:noFill/>
                </a:ln>
                <a:solidFill>
                  <a:srgbClr val="8BD3BF"/>
                </a:solidFill>
                <a:effectLst/>
                <a:latin typeface="Bahnschrift SemiBold" panose="020B0502040204020203" pitchFamily="34" charset="0"/>
              </a:rPr>
              <a:t>Razorpay</a:t>
            </a: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rgbClr val="8BD3BF"/>
                </a:solidFill>
                <a:effectLst/>
                <a:latin typeface="Bahnschrift SemiBold" panose="020B0502040204020203" pitchFamily="34" charset="0"/>
              </a:rPr>
              <a:t> Payment Integration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rgbClr val="8BD3BF"/>
                </a:solidFill>
                <a:effectLst/>
                <a:latin typeface="Bahnschrift SemiBold" panose="020B0502040204020203" pitchFamily="34" charset="0"/>
              </a:rPr>
              <a:t>Smart Contract Delay Penalty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rgbClr val="8BD3BF"/>
                </a:solidFill>
                <a:effectLst/>
                <a:latin typeface="Bahnschrift SemiBold" panose="020B0502040204020203" pitchFamily="34" charset="0"/>
              </a:rPr>
              <a:t>Multi-Stage Payment Support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5400" dirty="0">
                <a:solidFill>
                  <a:srgbClr val="8BD3BF"/>
                </a:solidFill>
                <a:latin typeface="Bahnschrift SemiBold" panose="020B0502040204020203" pitchFamily="34" charset="0"/>
              </a:rPr>
              <a:t>AI Fraud Detection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rgbClr val="8BD3BF"/>
                </a:solidFill>
                <a:effectLst/>
                <a:latin typeface="Bahnschrift SemiBold" panose="020B0502040204020203" pitchFamily="34" charset="0"/>
              </a:rPr>
              <a:t>Driver &amp; Supplier Reputation Score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rgbClr val="8BD3BF"/>
              </a:solidFill>
              <a:effectLst/>
              <a:latin typeface="Bahnschrift SemiBold" panose="020B0502040204020203" pitchFamily="34" charset="0"/>
            </a:endParaRPr>
          </a:p>
        </p:txBody>
      </p:sp>
      <p:pic>
        <p:nvPicPr>
          <p:cNvPr id="27" name="Graphic 26" descr="Money with solid fill">
            <a:extLst>
              <a:ext uri="{FF2B5EF4-FFF2-40B4-BE49-F238E27FC236}">
                <a16:creationId xmlns:a16="http://schemas.microsoft.com/office/drawing/2014/main" id="{D3914C2A-6C21-9B92-D7FA-4E0000D38C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0600" y="3237871"/>
            <a:ext cx="769393" cy="769393"/>
          </a:xfrm>
          <a:prstGeom prst="rect">
            <a:avLst/>
          </a:prstGeom>
        </p:spPr>
      </p:pic>
      <p:pic>
        <p:nvPicPr>
          <p:cNvPr id="29" name="Graphic 28" descr="Arrow circle with solid fill">
            <a:extLst>
              <a:ext uri="{FF2B5EF4-FFF2-40B4-BE49-F238E27FC236}">
                <a16:creationId xmlns:a16="http://schemas.microsoft.com/office/drawing/2014/main" id="{67B86A83-6949-FE8C-C952-904225147E3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7007" y="4007264"/>
            <a:ext cx="914400" cy="914400"/>
          </a:xfrm>
          <a:prstGeom prst="rect">
            <a:avLst/>
          </a:prstGeom>
        </p:spPr>
      </p:pic>
      <p:pic>
        <p:nvPicPr>
          <p:cNvPr id="31" name="Graphic 30" descr="Theatre with solid fill">
            <a:extLst>
              <a:ext uri="{FF2B5EF4-FFF2-40B4-BE49-F238E27FC236}">
                <a16:creationId xmlns:a16="http://schemas.microsoft.com/office/drawing/2014/main" id="{227331F3-879A-3BD8-EBC2-BE6645BFA1F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30406" y="4935880"/>
            <a:ext cx="735668" cy="735668"/>
          </a:xfrm>
          <a:prstGeom prst="rect">
            <a:avLst/>
          </a:prstGeom>
        </p:spPr>
      </p:pic>
      <p:pic>
        <p:nvPicPr>
          <p:cNvPr id="35" name="Graphic 34" descr="Dollar with solid fill">
            <a:extLst>
              <a:ext uri="{FF2B5EF4-FFF2-40B4-BE49-F238E27FC236}">
                <a16:creationId xmlns:a16="http://schemas.microsoft.com/office/drawing/2014/main" id="{A813E6AD-476C-7A46-626D-0D9ECF60A67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30406" y="5744680"/>
            <a:ext cx="735668" cy="735668"/>
          </a:xfrm>
          <a:prstGeom prst="rect">
            <a:avLst/>
          </a:prstGeom>
        </p:spPr>
      </p:pic>
      <p:pic>
        <p:nvPicPr>
          <p:cNvPr id="37" name="Graphic 36" descr="Books with solid fill">
            <a:extLst>
              <a:ext uri="{FF2B5EF4-FFF2-40B4-BE49-F238E27FC236}">
                <a16:creationId xmlns:a16="http://schemas.microsoft.com/office/drawing/2014/main" id="{7BA5D0D5-B293-FD0A-DB32-77CD9B05388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40156" y="6659085"/>
            <a:ext cx="569794" cy="569794"/>
          </a:xfrm>
          <a:prstGeom prst="rect">
            <a:avLst/>
          </a:prstGeom>
        </p:spPr>
      </p:pic>
      <p:pic>
        <p:nvPicPr>
          <p:cNvPr id="39" name="Graphic 38" descr="Bank with solid fill">
            <a:extLst>
              <a:ext uri="{FF2B5EF4-FFF2-40B4-BE49-F238E27FC236}">
                <a16:creationId xmlns:a16="http://schemas.microsoft.com/office/drawing/2014/main" id="{0120C0A2-ABE4-58AB-CAD5-E2BBCC1A48E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43572" y="7337139"/>
            <a:ext cx="735668" cy="735668"/>
          </a:xfrm>
          <a:prstGeom prst="rect">
            <a:avLst/>
          </a:prstGeom>
        </p:spPr>
      </p:pic>
      <p:pic>
        <p:nvPicPr>
          <p:cNvPr id="41" name="Graphic 40" descr="Brain with solid fill">
            <a:extLst>
              <a:ext uri="{FF2B5EF4-FFF2-40B4-BE49-F238E27FC236}">
                <a16:creationId xmlns:a16="http://schemas.microsoft.com/office/drawing/2014/main" id="{34902978-11C4-B281-E71E-49D34D7D510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43572" y="8215954"/>
            <a:ext cx="735668" cy="735668"/>
          </a:xfrm>
          <a:prstGeom prst="rect">
            <a:avLst/>
          </a:prstGeom>
        </p:spPr>
      </p:pic>
      <p:pic>
        <p:nvPicPr>
          <p:cNvPr id="45" name="Graphic 44" descr="Customer review with solid fill">
            <a:extLst>
              <a:ext uri="{FF2B5EF4-FFF2-40B4-BE49-F238E27FC236}">
                <a16:creationId xmlns:a16="http://schemas.microsoft.com/office/drawing/2014/main" id="{51A93300-CF26-B6AA-0B74-B6488198C7C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140393" y="9080697"/>
            <a:ext cx="619600" cy="61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D4E2F-1755-6EC3-224E-AAD534571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906ADB1-01E7-6B60-ED07-10788239E75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369402FF-E7A5-BB39-F5B7-FC44AE15D124}"/>
              </a:ext>
            </a:extLst>
          </p:cNvPr>
          <p:cNvSpPr txBox="1"/>
          <p:nvPr/>
        </p:nvSpPr>
        <p:spPr>
          <a:xfrm>
            <a:off x="-2057400" y="2306232"/>
            <a:ext cx="12652043" cy="892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5400" b="1" dirty="0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AFFF5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INNOVATION &amp; USP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FEB3FF4-F95F-B2DD-AB63-B76C1B52A093}"/>
              </a:ext>
            </a:extLst>
          </p:cNvPr>
          <p:cNvGrpSpPr/>
          <p:nvPr/>
        </p:nvGrpSpPr>
        <p:grpSpPr>
          <a:xfrm>
            <a:off x="632753" y="636360"/>
            <a:ext cx="17103324" cy="1479628"/>
            <a:chOff x="0" y="0"/>
            <a:chExt cx="22804433" cy="1972837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E54215D2-46AD-D65E-8564-A5F72248E488}"/>
                </a:ext>
              </a:extLst>
            </p:cNvPr>
            <p:cNvGrpSpPr/>
            <p:nvPr/>
          </p:nvGrpSpPr>
          <p:grpSpPr>
            <a:xfrm>
              <a:off x="14170825" y="0"/>
              <a:ext cx="8633608" cy="1747411"/>
              <a:chOff x="0" y="0"/>
              <a:chExt cx="979436" cy="198234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DFA90E6E-91BA-A024-93C3-F43E7B42A8CA}"/>
                  </a:ext>
                </a:extLst>
              </p:cNvPr>
              <p:cNvSpPr/>
              <p:nvPr/>
            </p:nvSpPr>
            <p:spPr>
              <a:xfrm>
                <a:off x="0" y="0"/>
                <a:ext cx="979436" cy="198234"/>
              </a:xfrm>
              <a:custGeom>
                <a:avLst/>
                <a:gdLst/>
                <a:ahLst/>
                <a:cxnLst/>
                <a:rect l="l" t="t" r="r" b="b"/>
                <a:pathLst>
                  <a:path w="979436" h="198234">
                    <a:moveTo>
                      <a:pt x="88476" y="0"/>
                    </a:moveTo>
                    <a:lnTo>
                      <a:pt x="890959" y="0"/>
                    </a:lnTo>
                    <a:cubicBezTo>
                      <a:pt x="939824" y="0"/>
                      <a:pt x="979436" y="39612"/>
                      <a:pt x="979436" y="88476"/>
                    </a:cubicBezTo>
                    <a:lnTo>
                      <a:pt x="979436" y="109758"/>
                    </a:lnTo>
                    <a:cubicBezTo>
                      <a:pt x="979436" y="133223"/>
                      <a:pt x="970114" y="155728"/>
                      <a:pt x="953522" y="172320"/>
                    </a:cubicBezTo>
                    <a:cubicBezTo>
                      <a:pt x="936929" y="188913"/>
                      <a:pt x="914425" y="198234"/>
                      <a:pt x="890959" y="198234"/>
                    </a:cubicBezTo>
                    <a:lnTo>
                      <a:pt x="88476" y="198234"/>
                    </a:lnTo>
                    <a:cubicBezTo>
                      <a:pt x="39612" y="198234"/>
                      <a:pt x="0" y="158622"/>
                      <a:pt x="0" y="109758"/>
                    </a:cubicBezTo>
                    <a:lnTo>
                      <a:pt x="0" y="88476"/>
                    </a:lnTo>
                    <a:cubicBezTo>
                      <a:pt x="0" y="39612"/>
                      <a:pt x="39612" y="0"/>
                      <a:pt x="8847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C52FF">
                      <a:alpha val="34000"/>
                    </a:srgbClr>
                  </a:gs>
                  <a:gs pos="100000">
                    <a:srgbClr val="00BF63">
                      <a:alpha val="34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E27FC544-8AA3-78F7-60EC-1E9D68655719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979436" cy="245859"/>
              </a:xfrm>
              <a:prstGeom prst="rect">
                <a:avLst/>
              </a:prstGeom>
            </p:spPr>
            <p:txBody>
              <a:bodyPr lIns="56452" tIns="56452" rIns="56452" bIns="56452" rtlCol="0" anchor="ctr"/>
              <a:lstStyle/>
              <a:p>
                <a:pPr algn="ctr">
                  <a:lnSpc>
                    <a:spcPts val="3440"/>
                  </a:lnSpc>
                </a:pPr>
                <a:endParaRPr/>
              </a:p>
            </p:txBody>
          </p:sp>
        </p:grp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7E4D65C2-3080-2C9A-DA9D-BD1D701F1F52}"/>
                </a:ext>
              </a:extLst>
            </p:cNvPr>
            <p:cNvSpPr txBox="1"/>
            <p:nvPr/>
          </p:nvSpPr>
          <p:spPr>
            <a:xfrm>
              <a:off x="18542125" y="1128773"/>
              <a:ext cx="1391797" cy="405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37"/>
                </a:lnSpc>
              </a:pPr>
              <a:r>
                <a:rPr lang="en-US" sz="181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A5615D4-E397-1893-CB64-8FBCCB242B4F}"/>
                </a:ext>
              </a:extLst>
            </p:cNvPr>
            <p:cNvSpPr/>
            <p:nvPr/>
          </p:nvSpPr>
          <p:spPr>
            <a:xfrm>
              <a:off x="18487629" y="213128"/>
              <a:ext cx="1446293" cy="953744"/>
            </a:xfrm>
            <a:custGeom>
              <a:avLst/>
              <a:gdLst/>
              <a:ahLst/>
              <a:cxnLst/>
              <a:rect l="l" t="t" r="r" b="b"/>
              <a:pathLst>
                <a:path w="1446293" h="953744">
                  <a:moveTo>
                    <a:pt x="0" y="0"/>
                  </a:moveTo>
                  <a:lnTo>
                    <a:pt x="1446293" y="0"/>
                  </a:lnTo>
                  <a:lnTo>
                    <a:pt x="1446293" y="953745"/>
                  </a:lnTo>
                  <a:lnTo>
                    <a:pt x="0" y="95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SG"/>
            </a:p>
          </p:txBody>
        </p:sp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F075DAFC-1C32-895E-7025-C8D324567E89}"/>
                </a:ext>
              </a:extLst>
            </p:cNvPr>
            <p:cNvGrpSpPr/>
            <p:nvPr/>
          </p:nvGrpSpPr>
          <p:grpSpPr>
            <a:xfrm>
              <a:off x="20167830" y="331442"/>
              <a:ext cx="1084526" cy="1084526"/>
              <a:chOff x="0" y="0"/>
              <a:chExt cx="812800" cy="81280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5F237F85-BB18-A5E8-F86E-81B80C541E4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576B1DCE-25CC-B438-96A5-83D756C2DA1A}"/>
                </a:ext>
              </a:extLst>
            </p:cNvPr>
            <p:cNvSpPr/>
            <p:nvPr/>
          </p:nvSpPr>
          <p:spPr>
            <a:xfrm>
              <a:off x="15300917" y="286116"/>
              <a:ext cx="2952803" cy="1011539"/>
            </a:xfrm>
            <a:custGeom>
              <a:avLst/>
              <a:gdLst/>
              <a:ahLst/>
              <a:cxnLst/>
              <a:rect l="l" t="t" r="r" b="b"/>
              <a:pathLst>
                <a:path w="2952803" h="1011539">
                  <a:moveTo>
                    <a:pt x="0" y="0"/>
                  </a:moveTo>
                  <a:lnTo>
                    <a:pt x="2952803" y="0"/>
                  </a:lnTo>
                  <a:lnTo>
                    <a:pt x="2952803" y="1011539"/>
                  </a:lnTo>
                  <a:lnTo>
                    <a:pt x="0" y="1011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5" t="-40049" r="-7054" b="-38629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D6082C6B-A33C-25DD-3F33-69BD90F05E97}"/>
                </a:ext>
              </a:extLst>
            </p:cNvPr>
            <p:cNvSpPr/>
            <p:nvPr/>
          </p:nvSpPr>
          <p:spPr>
            <a:xfrm>
              <a:off x="0" y="0"/>
              <a:ext cx="7273132" cy="1972837"/>
            </a:xfrm>
            <a:custGeom>
              <a:avLst/>
              <a:gdLst/>
              <a:ahLst/>
              <a:cxnLst/>
              <a:rect l="l" t="t" r="r" b="b"/>
              <a:pathLst>
                <a:path w="7273132" h="1972837">
                  <a:moveTo>
                    <a:pt x="0" y="0"/>
                  </a:moveTo>
                  <a:lnTo>
                    <a:pt x="7273132" y="0"/>
                  </a:lnTo>
                  <a:lnTo>
                    <a:pt x="7273132" y="1972837"/>
                  </a:lnTo>
                  <a:lnTo>
                    <a:pt x="0" y="1972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5" name="Rectangle 1">
            <a:extLst>
              <a:ext uri="{FF2B5EF4-FFF2-40B4-BE49-F238E27FC236}">
                <a16:creationId xmlns:a16="http://schemas.microsoft.com/office/drawing/2014/main" id="{7FF4A743-8851-4CC0-C176-C72349154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279" y="3464911"/>
            <a:ext cx="17701441" cy="655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1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 SemiBold" panose="020B0502040204020203" pitchFamily="34" charset="0"/>
              </a:rPr>
              <a:t>Secure OTP / QR Delivery Confirmation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BD3BF"/>
                </a:solidFill>
                <a:effectLst/>
                <a:latin typeface="Bahnschrift SemiBold" panose="020B0502040204020203" pitchFamily="34" charset="0"/>
              </a:rPr>
              <a:t>– prevents fake delivery completion by verifying with customer OTP or QR code.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1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 SemiBold" panose="020B0502040204020203" pitchFamily="34" charset="0"/>
              </a:rPr>
              <a:t>Real-Time Delivery Tracking Interface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BD3BF"/>
                </a:solidFill>
                <a:effectLst/>
                <a:latin typeface="Bahnschrift SemiBold" panose="020B0502040204020203" pitchFamily="34" charset="0"/>
              </a:rPr>
              <a:t>– customers can track driver movement and delivery progress live.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1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 SemiBold" panose="020B0502040204020203" pitchFamily="34" charset="0"/>
              </a:rPr>
              <a:t>Escrow Transparency Dashboard</a:t>
            </a:r>
            <a:r>
              <a:rPr kumimoji="0" lang="en-US" altLang="en-US" sz="3200" b="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 SemiBold" panose="020B0502040204020203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BD3BF"/>
                </a:solidFill>
                <a:effectLst/>
                <a:latin typeface="Bahnschrift SemiBold" panose="020B0502040204020203" pitchFamily="34" charset="0"/>
              </a:rPr>
              <a:t>– admin panel displaying blockchain transaction hashes and payment status.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1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 SemiBold" panose="020B0502040204020203" pitchFamily="34" charset="0"/>
              </a:rPr>
              <a:t>Address Confidence Score (AI)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 SemiBold" panose="020B0502040204020203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BD3BF"/>
                </a:solidFill>
                <a:effectLst/>
                <a:latin typeface="Bahnschrift SemiBold" panose="020B0502040204020203" pitchFamily="34" charset="0"/>
              </a:rPr>
              <a:t>– predicts delivery success using address completeness, driver history, and location accuracy.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1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 SemiBold" panose="020B0502040204020203" pitchFamily="34" charset="0"/>
              </a:rPr>
              <a:t>Driver Feedback &amp; Address Improvement System</a:t>
            </a:r>
            <a:r>
              <a:rPr kumimoji="0" lang="en-US" altLang="en-US" sz="3200" b="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 SemiBold" panose="020B0502040204020203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BD3BF"/>
                </a:solidFill>
                <a:effectLst/>
                <a:latin typeface="Bahnschrift SemiBold" panose="020B0502040204020203" pitchFamily="34" charset="0"/>
              </a:rPr>
              <a:t>– drivers can report difficult locations to improve future deliveries.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3200" b="1" u="sng" dirty="0">
                <a:solidFill>
                  <a:schemeClr val="bg1"/>
                </a:solidFill>
                <a:latin typeface="Bahnschrift SemiBold" panose="020B0502040204020203" pitchFamily="34" charset="0"/>
              </a:rPr>
              <a:t>Smart Location Verification System</a:t>
            </a:r>
            <a:r>
              <a:rPr lang="en-US" altLang="en-US" sz="3200" u="sng" dirty="0">
                <a:solidFill>
                  <a:schemeClr val="bg1"/>
                </a:solidFill>
                <a:latin typeface="Bahnschrift SemiBold" panose="020B0502040204020203" pitchFamily="34" charset="0"/>
              </a:rPr>
              <a:t> </a:t>
            </a:r>
            <a:r>
              <a:rPr lang="en-US" altLang="en-US" sz="3200" dirty="0">
                <a:solidFill>
                  <a:srgbClr val="8BD3BF"/>
                </a:solidFill>
                <a:latin typeface="Bahnschrift SemiBold" panose="020B0502040204020203" pitchFamily="34" charset="0"/>
              </a:rPr>
              <a:t>– uses GPS pin drop and live location sharing to ensure accurate delivery locations.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rgbClr val="8BD3BF"/>
              </a:solidFill>
              <a:effectLst/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613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TextBox 3"/>
          <p:cNvSpPr txBox="1"/>
          <p:nvPr/>
        </p:nvSpPr>
        <p:spPr>
          <a:xfrm>
            <a:off x="1256589" y="2195500"/>
            <a:ext cx="15774822" cy="87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5400" b="1" dirty="0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AFFF5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WORKFLOW DIAGRAM WITH TECH STACK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32753" y="636360"/>
            <a:ext cx="17103324" cy="1479628"/>
            <a:chOff x="0" y="0"/>
            <a:chExt cx="22804433" cy="1972837"/>
          </a:xfrm>
        </p:grpSpPr>
        <p:grpSp>
          <p:nvGrpSpPr>
            <p:cNvPr id="5" name="Group 5"/>
            <p:cNvGrpSpPr/>
            <p:nvPr/>
          </p:nvGrpSpPr>
          <p:grpSpPr>
            <a:xfrm>
              <a:off x="14170825" y="0"/>
              <a:ext cx="8633608" cy="1747411"/>
              <a:chOff x="0" y="0"/>
              <a:chExt cx="979436" cy="19823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979436" cy="198234"/>
              </a:xfrm>
              <a:custGeom>
                <a:avLst/>
                <a:gdLst/>
                <a:ahLst/>
                <a:cxnLst/>
                <a:rect l="l" t="t" r="r" b="b"/>
                <a:pathLst>
                  <a:path w="979436" h="198234">
                    <a:moveTo>
                      <a:pt x="88476" y="0"/>
                    </a:moveTo>
                    <a:lnTo>
                      <a:pt x="890959" y="0"/>
                    </a:lnTo>
                    <a:cubicBezTo>
                      <a:pt x="939824" y="0"/>
                      <a:pt x="979436" y="39612"/>
                      <a:pt x="979436" y="88476"/>
                    </a:cubicBezTo>
                    <a:lnTo>
                      <a:pt x="979436" y="109758"/>
                    </a:lnTo>
                    <a:cubicBezTo>
                      <a:pt x="979436" y="133223"/>
                      <a:pt x="970114" y="155728"/>
                      <a:pt x="953522" y="172320"/>
                    </a:cubicBezTo>
                    <a:cubicBezTo>
                      <a:pt x="936929" y="188913"/>
                      <a:pt x="914425" y="198234"/>
                      <a:pt x="890959" y="198234"/>
                    </a:cubicBezTo>
                    <a:lnTo>
                      <a:pt x="88476" y="198234"/>
                    </a:lnTo>
                    <a:cubicBezTo>
                      <a:pt x="39612" y="198234"/>
                      <a:pt x="0" y="158622"/>
                      <a:pt x="0" y="109758"/>
                    </a:cubicBezTo>
                    <a:lnTo>
                      <a:pt x="0" y="88476"/>
                    </a:lnTo>
                    <a:cubicBezTo>
                      <a:pt x="0" y="39612"/>
                      <a:pt x="39612" y="0"/>
                      <a:pt x="8847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C52FF">
                      <a:alpha val="34000"/>
                    </a:srgbClr>
                  </a:gs>
                  <a:gs pos="100000">
                    <a:srgbClr val="00BF63">
                      <a:alpha val="34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979436" cy="245859"/>
              </a:xfrm>
              <a:prstGeom prst="rect">
                <a:avLst/>
              </a:prstGeom>
            </p:spPr>
            <p:txBody>
              <a:bodyPr lIns="56452" tIns="56452" rIns="56452" bIns="56452" rtlCol="0" anchor="ctr"/>
              <a:lstStyle/>
              <a:p>
                <a:pPr algn="ctr">
                  <a:lnSpc>
                    <a:spcPts val="3440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8542125" y="1128773"/>
              <a:ext cx="1391797" cy="405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37"/>
                </a:lnSpc>
              </a:pPr>
              <a:r>
                <a:rPr lang="en-US" sz="181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18487629" y="213128"/>
              <a:ext cx="1446293" cy="953744"/>
            </a:xfrm>
            <a:custGeom>
              <a:avLst/>
              <a:gdLst/>
              <a:ahLst/>
              <a:cxnLst/>
              <a:rect l="l" t="t" r="r" b="b"/>
              <a:pathLst>
                <a:path w="1446293" h="953744">
                  <a:moveTo>
                    <a:pt x="0" y="0"/>
                  </a:moveTo>
                  <a:lnTo>
                    <a:pt x="1446293" y="0"/>
                  </a:lnTo>
                  <a:lnTo>
                    <a:pt x="1446293" y="953745"/>
                  </a:lnTo>
                  <a:lnTo>
                    <a:pt x="0" y="95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SG"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20167830" y="331442"/>
              <a:ext cx="1084526" cy="1084526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15300917" y="286116"/>
              <a:ext cx="2952803" cy="1011539"/>
            </a:xfrm>
            <a:custGeom>
              <a:avLst/>
              <a:gdLst/>
              <a:ahLst/>
              <a:cxnLst/>
              <a:rect l="l" t="t" r="r" b="b"/>
              <a:pathLst>
                <a:path w="2952803" h="1011539">
                  <a:moveTo>
                    <a:pt x="0" y="0"/>
                  </a:moveTo>
                  <a:lnTo>
                    <a:pt x="2952803" y="0"/>
                  </a:lnTo>
                  <a:lnTo>
                    <a:pt x="2952803" y="1011539"/>
                  </a:lnTo>
                  <a:lnTo>
                    <a:pt x="0" y="1011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5" t="-40049" r="-7054" b="-38629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7273132" cy="1972837"/>
            </a:xfrm>
            <a:custGeom>
              <a:avLst/>
              <a:gdLst/>
              <a:ahLst/>
              <a:cxnLst/>
              <a:rect l="l" t="t" r="r" b="b"/>
              <a:pathLst>
                <a:path w="7273132" h="1972837">
                  <a:moveTo>
                    <a:pt x="0" y="0"/>
                  </a:moveTo>
                  <a:lnTo>
                    <a:pt x="7273132" y="0"/>
                  </a:lnTo>
                  <a:lnTo>
                    <a:pt x="7273132" y="1972837"/>
                  </a:lnTo>
                  <a:lnTo>
                    <a:pt x="0" y="1972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6FC82604-FABB-C209-0EDE-B6CEE0DB3C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329" y="3290607"/>
            <a:ext cx="15971342" cy="64683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 dirty="0"/>
          </a:p>
        </p:txBody>
      </p:sp>
      <p:sp>
        <p:nvSpPr>
          <p:cNvPr id="3" name="TextBox 3"/>
          <p:cNvSpPr txBox="1"/>
          <p:nvPr/>
        </p:nvSpPr>
        <p:spPr>
          <a:xfrm>
            <a:off x="-2835891" y="2335203"/>
            <a:ext cx="12652043" cy="936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300" b="1" dirty="0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AFFF5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Tech Stack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32753" y="636360"/>
            <a:ext cx="17103324" cy="1479628"/>
            <a:chOff x="0" y="0"/>
            <a:chExt cx="22804433" cy="1972837"/>
          </a:xfrm>
        </p:grpSpPr>
        <p:grpSp>
          <p:nvGrpSpPr>
            <p:cNvPr id="5" name="Group 5"/>
            <p:cNvGrpSpPr/>
            <p:nvPr/>
          </p:nvGrpSpPr>
          <p:grpSpPr>
            <a:xfrm>
              <a:off x="14170825" y="0"/>
              <a:ext cx="8633608" cy="1747411"/>
              <a:chOff x="0" y="0"/>
              <a:chExt cx="979436" cy="19823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979436" cy="198234"/>
              </a:xfrm>
              <a:custGeom>
                <a:avLst/>
                <a:gdLst/>
                <a:ahLst/>
                <a:cxnLst/>
                <a:rect l="l" t="t" r="r" b="b"/>
                <a:pathLst>
                  <a:path w="979436" h="198234">
                    <a:moveTo>
                      <a:pt x="88476" y="0"/>
                    </a:moveTo>
                    <a:lnTo>
                      <a:pt x="890959" y="0"/>
                    </a:lnTo>
                    <a:cubicBezTo>
                      <a:pt x="939824" y="0"/>
                      <a:pt x="979436" y="39612"/>
                      <a:pt x="979436" y="88476"/>
                    </a:cubicBezTo>
                    <a:lnTo>
                      <a:pt x="979436" y="109758"/>
                    </a:lnTo>
                    <a:cubicBezTo>
                      <a:pt x="979436" y="133223"/>
                      <a:pt x="970114" y="155728"/>
                      <a:pt x="953522" y="172320"/>
                    </a:cubicBezTo>
                    <a:cubicBezTo>
                      <a:pt x="936929" y="188913"/>
                      <a:pt x="914425" y="198234"/>
                      <a:pt x="890959" y="198234"/>
                    </a:cubicBezTo>
                    <a:lnTo>
                      <a:pt x="88476" y="198234"/>
                    </a:lnTo>
                    <a:cubicBezTo>
                      <a:pt x="39612" y="198234"/>
                      <a:pt x="0" y="158622"/>
                      <a:pt x="0" y="109758"/>
                    </a:cubicBezTo>
                    <a:lnTo>
                      <a:pt x="0" y="88476"/>
                    </a:lnTo>
                    <a:cubicBezTo>
                      <a:pt x="0" y="39612"/>
                      <a:pt x="39612" y="0"/>
                      <a:pt x="8847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C52FF">
                      <a:alpha val="34000"/>
                    </a:srgbClr>
                  </a:gs>
                  <a:gs pos="100000">
                    <a:srgbClr val="00BF63">
                      <a:alpha val="34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979436" cy="245859"/>
              </a:xfrm>
              <a:prstGeom prst="rect">
                <a:avLst/>
              </a:prstGeom>
            </p:spPr>
            <p:txBody>
              <a:bodyPr lIns="56452" tIns="56452" rIns="56452" bIns="56452" rtlCol="0" anchor="ctr"/>
              <a:lstStyle/>
              <a:p>
                <a:pPr algn="ctr">
                  <a:lnSpc>
                    <a:spcPts val="3440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8542125" y="1128773"/>
              <a:ext cx="1391797" cy="405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37"/>
                </a:lnSpc>
              </a:pPr>
              <a:r>
                <a:rPr lang="en-US" sz="181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18487629" y="213128"/>
              <a:ext cx="1446293" cy="953744"/>
            </a:xfrm>
            <a:custGeom>
              <a:avLst/>
              <a:gdLst/>
              <a:ahLst/>
              <a:cxnLst/>
              <a:rect l="l" t="t" r="r" b="b"/>
              <a:pathLst>
                <a:path w="1446293" h="953744">
                  <a:moveTo>
                    <a:pt x="0" y="0"/>
                  </a:moveTo>
                  <a:lnTo>
                    <a:pt x="1446293" y="0"/>
                  </a:lnTo>
                  <a:lnTo>
                    <a:pt x="1446293" y="953745"/>
                  </a:lnTo>
                  <a:lnTo>
                    <a:pt x="0" y="95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SG"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20167830" y="331442"/>
              <a:ext cx="1084526" cy="1084526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15300917" y="286116"/>
              <a:ext cx="2952803" cy="1011539"/>
            </a:xfrm>
            <a:custGeom>
              <a:avLst/>
              <a:gdLst/>
              <a:ahLst/>
              <a:cxnLst/>
              <a:rect l="l" t="t" r="r" b="b"/>
              <a:pathLst>
                <a:path w="2952803" h="1011539">
                  <a:moveTo>
                    <a:pt x="0" y="0"/>
                  </a:moveTo>
                  <a:lnTo>
                    <a:pt x="2952803" y="0"/>
                  </a:lnTo>
                  <a:lnTo>
                    <a:pt x="2952803" y="1011539"/>
                  </a:lnTo>
                  <a:lnTo>
                    <a:pt x="0" y="1011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5" t="-40049" r="-7054" b="-38629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7273132" cy="1972837"/>
            </a:xfrm>
            <a:custGeom>
              <a:avLst/>
              <a:gdLst/>
              <a:ahLst/>
              <a:cxnLst/>
              <a:rect l="l" t="t" r="r" b="b"/>
              <a:pathLst>
                <a:path w="7273132" h="1972837">
                  <a:moveTo>
                    <a:pt x="0" y="0"/>
                  </a:moveTo>
                  <a:lnTo>
                    <a:pt x="7273132" y="0"/>
                  </a:lnTo>
                  <a:lnTo>
                    <a:pt x="7273132" y="1972837"/>
                  </a:lnTo>
                  <a:lnTo>
                    <a:pt x="0" y="1972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4E1B30E-4526-2ABD-80DD-051E3B8C91D3}"/>
              </a:ext>
            </a:extLst>
          </p:cNvPr>
          <p:cNvSpPr txBox="1"/>
          <p:nvPr/>
        </p:nvSpPr>
        <p:spPr>
          <a:xfrm>
            <a:off x="1104900" y="3077441"/>
            <a:ext cx="160782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solidFill>
                <a:srgbClr val="8BD3BF"/>
              </a:solidFill>
            </a:endParaRPr>
          </a:p>
          <a:p>
            <a:r>
              <a:rPr lang="en-IN" sz="3600" b="1" dirty="0">
                <a:solidFill>
                  <a:srgbClr val="8BD3BF"/>
                </a:solidFill>
              </a:rPr>
              <a:t>Blockchain Layer</a:t>
            </a:r>
          </a:p>
          <a:p>
            <a:endParaRPr lang="en-IN" dirty="0">
              <a:solidFill>
                <a:srgbClr val="8BD3BF"/>
              </a:solidFill>
            </a:endParaRPr>
          </a:p>
          <a:p>
            <a:r>
              <a:rPr lang="en-IN" dirty="0">
                <a:solidFill>
                  <a:srgbClr val="8BD3BF"/>
                </a:solidFill>
              </a:rPr>
              <a:t>* Ethereum (</a:t>
            </a:r>
            <a:r>
              <a:rPr lang="en-IN" dirty="0" err="1">
                <a:solidFill>
                  <a:srgbClr val="8BD3BF"/>
                </a:solidFill>
              </a:rPr>
              <a:t>Testnet</a:t>
            </a:r>
            <a:r>
              <a:rPr lang="en-IN" dirty="0">
                <a:solidFill>
                  <a:srgbClr val="8BD3BF"/>
                </a:solidFill>
              </a:rPr>
              <a:t> – </a:t>
            </a:r>
            <a:r>
              <a:rPr lang="en-IN" dirty="0" err="1">
                <a:solidFill>
                  <a:srgbClr val="8BD3BF"/>
                </a:solidFill>
              </a:rPr>
              <a:t>Sepolia</a:t>
            </a:r>
            <a:r>
              <a:rPr lang="en-IN" dirty="0">
                <a:solidFill>
                  <a:srgbClr val="8BD3BF"/>
                </a:solidFill>
              </a:rPr>
              <a:t>)</a:t>
            </a:r>
          </a:p>
          <a:p>
            <a:r>
              <a:rPr lang="en-IN" dirty="0">
                <a:solidFill>
                  <a:srgbClr val="8BD3BF"/>
                </a:solidFill>
              </a:rPr>
              <a:t>* Solidity Smart Contracts</a:t>
            </a:r>
          </a:p>
          <a:p>
            <a:r>
              <a:rPr lang="en-IN" dirty="0">
                <a:solidFill>
                  <a:srgbClr val="8BD3BF"/>
                </a:solidFill>
              </a:rPr>
              <a:t>* Hardhat (Smart Contract Development)</a:t>
            </a:r>
          </a:p>
          <a:p>
            <a:endParaRPr lang="en-IN" dirty="0">
              <a:solidFill>
                <a:srgbClr val="8BD3BF"/>
              </a:solidFill>
            </a:endParaRPr>
          </a:p>
          <a:p>
            <a:r>
              <a:rPr lang="en-IN" sz="3600" b="1" dirty="0">
                <a:solidFill>
                  <a:srgbClr val="8BD3BF"/>
                </a:solidFill>
              </a:rPr>
              <a:t>Backend</a:t>
            </a:r>
          </a:p>
          <a:p>
            <a:endParaRPr lang="en-IN" dirty="0">
              <a:solidFill>
                <a:srgbClr val="8BD3BF"/>
              </a:solidFill>
            </a:endParaRPr>
          </a:p>
          <a:p>
            <a:r>
              <a:rPr lang="en-IN" dirty="0">
                <a:solidFill>
                  <a:srgbClr val="8BD3BF"/>
                </a:solidFill>
              </a:rPr>
              <a:t>* Node.js</a:t>
            </a:r>
          </a:p>
          <a:p>
            <a:r>
              <a:rPr lang="en-IN" dirty="0">
                <a:solidFill>
                  <a:srgbClr val="8BD3BF"/>
                </a:solidFill>
              </a:rPr>
              <a:t>* Express.js</a:t>
            </a:r>
          </a:p>
          <a:p>
            <a:endParaRPr lang="en-IN" dirty="0">
              <a:solidFill>
                <a:srgbClr val="8BD3BF"/>
              </a:solidFill>
            </a:endParaRPr>
          </a:p>
          <a:p>
            <a:r>
              <a:rPr lang="en-IN" sz="3600" b="1" dirty="0">
                <a:solidFill>
                  <a:srgbClr val="8BD3BF"/>
                </a:solidFill>
              </a:rPr>
              <a:t>Blockchain Integration</a:t>
            </a:r>
          </a:p>
          <a:p>
            <a:endParaRPr lang="en-IN" dirty="0">
              <a:solidFill>
                <a:srgbClr val="8BD3BF"/>
              </a:solidFill>
            </a:endParaRPr>
          </a:p>
          <a:p>
            <a:r>
              <a:rPr lang="en-IN" dirty="0">
                <a:solidFill>
                  <a:srgbClr val="8BD3BF"/>
                </a:solidFill>
              </a:rPr>
              <a:t>* Ethers.js / Web3.js</a:t>
            </a:r>
          </a:p>
          <a:p>
            <a:endParaRPr lang="en-IN" dirty="0">
              <a:solidFill>
                <a:srgbClr val="8BD3BF"/>
              </a:solidFill>
            </a:endParaRPr>
          </a:p>
          <a:p>
            <a:r>
              <a:rPr lang="en-IN" sz="3600" b="1" dirty="0">
                <a:solidFill>
                  <a:srgbClr val="8BD3BF"/>
                </a:solidFill>
              </a:rPr>
              <a:t>Mobile Application</a:t>
            </a:r>
          </a:p>
          <a:p>
            <a:endParaRPr lang="en-IN" dirty="0">
              <a:solidFill>
                <a:srgbClr val="8BD3BF"/>
              </a:solidFill>
            </a:endParaRPr>
          </a:p>
          <a:p>
            <a:r>
              <a:rPr lang="en-IN" dirty="0">
                <a:solidFill>
                  <a:srgbClr val="8BD3BF"/>
                </a:solidFill>
              </a:rPr>
              <a:t>* Flutter (Customer &amp; Driver App)</a:t>
            </a:r>
          </a:p>
          <a:p>
            <a:endParaRPr lang="en-IN" dirty="0">
              <a:solidFill>
                <a:srgbClr val="8BD3B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EEACBF-7B71-4D63-292F-A74A468EC9E9}"/>
              </a:ext>
            </a:extLst>
          </p:cNvPr>
          <p:cNvSpPr txBox="1"/>
          <p:nvPr/>
        </p:nvSpPr>
        <p:spPr>
          <a:xfrm>
            <a:off x="9816152" y="2711072"/>
            <a:ext cx="7239000" cy="7232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8BD3BF"/>
                </a:solidFill>
              </a:rPr>
              <a:t>Admin Dashboard</a:t>
            </a:r>
          </a:p>
          <a:p>
            <a:endParaRPr lang="en-IN" dirty="0">
              <a:solidFill>
                <a:srgbClr val="8BD3BF"/>
              </a:solidFill>
            </a:endParaRPr>
          </a:p>
          <a:p>
            <a:r>
              <a:rPr lang="en-IN" dirty="0">
                <a:solidFill>
                  <a:srgbClr val="8BD3BF"/>
                </a:solidFill>
              </a:rPr>
              <a:t>* Angular / React</a:t>
            </a:r>
          </a:p>
          <a:p>
            <a:endParaRPr lang="en-IN" dirty="0">
              <a:solidFill>
                <a:srgbClr val="8BD3BF"/>
              </a:solidFill>
            </a:endParaRPr>
          </a:p>
          <a:p>
            <a:r>
              <a:rPr lang="en-IN" sz="3600" b="1" dirty="0">
                <a:solidFill>
                  <a:srgbClr val="8BD3BF"/>
                </a:solidFill>
              </a:rPr>
              <a:t>Database (Off-chain Storage)</a:t>
            </a:r>
          </a:p>
          <a:p>
            <a:endParaRPr lang="en-IN" b="1" dirty="0">
              <a:solidFill>
                <a:srgbClr val="8BD3BF"/>
              </a:solidFill>
            </a:endParaRPr>
          </a:p>
          <a:p>
            <a:r>
              <a:rPr lang="en-IN" dirty="0">
                <a:solidFill>
                  <a:srgbClr val="8BD3BF"/>
                </a:solidFill>
              </a:rPr>
              <a:t>* PostgreSQL</a:t>
            </a:r>
          </a:p>
          <a:p>
            <a:endParaRPr lang="en-IN" dirty="0">
              <a:solidFill>
                <a:srgbClr val="8BD3BF"/>
              </a:solidFill>
            </a:endParaRPr>
          </a:p>
          <a:p>
            <a:r>
              <a:rPr lang="en-IN" sz="3600" b="1" dirty="0">
                <a:solidFill>
                  <a:srgbClr val="8BD3BF"/>
                </a:solidFill>
              </a:rPr>
              <a:t>File Storage</a:t>
            </a:r>
          </a:p>
          <a:p>
            <a:endParaRPr lang="en-IN" dirty="0">
              <a:solidFill>
                <a:srgbClr val="8BD3BF"/>
              </a:solidFill>
            </a:endParaRPr>
          </a:p>
          <a:p>
            <a:r>
              <a:rPr lang="en-IN" dirty="0">
                <a:solidFill>
                  <a:srgbClr val="8BD3BF"/>
                </a:solidFill>
              </a:rPr>
              <a:t>* IPFS / Cloud Storage (Delivery Proof Images)</a:t>
            </a:r>
          </a:p>
          <a:p>
            <a:endParaRPr lang="en-IN" dirty="0">
              <a:solidFill>
                <a:srgbClr val="8BD3BF"/>
              </a:solidFill>
            </a:endParaRPr>
          </a:p>
          <a:p>
            <a:r>
              <a:rPr lang="en-IN" sz="3600" b="1" dirty="0">
                <a:solidFill>
                  <a:srgbClr val="8BD3BF"/>
                </a:solidFill>
              </a:rPr>
              <a:t>Payment Gateway</a:t>
            </a:r>
          </a:p>
          <a:p>
            <a:endParaRPr lang="en-IN" dirty="0">
              <a:solidFill>
                <a:srgbClr val="8BD3BF"/>
              </a:solidFill>
            </a:endParaRPr>
          </a:p>
          <a:p>
            <a:r>
              <a:rPr lang="en-IN" dirty="0">
                <a:solidFill>
                  <a:srgbClr val="8BD3BF"/>
                </a:solidFill>
              </a:rPr>
              <a:t>* </a:t>
            </a:r>
            <a:r>
              <a:rPr lang="en-IN" dirty="0" err="1">
                <a:solidFill>
                  <a:srgbClr val="8BD3BF"/>
                </a:solidFill>
              </a:rPr>
              <a:t>Razorpay</a:t>
            </a:r>
            <a:endParaRPr lang="en-IN" dirty="0">
              <a:solidFill>
                <a:srgbClr val="8BD3BF"/>
              </a:solidFill>
            </a:endParaRPr>
          </a:p>
          <a:p>
            <a:endParaRPr lang="en-IN" dirty="0">
              <a:solidFill>
                <a:srgbClr val="8BD3BF"/>
              </a:solidFill>
            </a:endParaRPr>
          </a:p>
          <a:p>
            <a:r>
              <a:rPr lang="en-IN" sz="3600" b="1" dirty="0">
                <a:solidFill>
                  <a:srgbClr val="8BD3BF"/>
                </a:solidFill>
              </a:rPr>
              <a:t>Authentication &amp; Security</a:t>
            </a:r>
          </a:p>
          <a:p>
            <a:endParaRPr lang="en-IN" dirty="0">
              <a:solidFill>
                <a:srgbClr val="8BD3BF"/>
              </a:solidFill>
            </a:endParaRPr>
          </a:p>
          <a:p>
            <a:r>
              <a:rPr lang="en-IN" dirty="0">
                <a:solidFill>
                  <a:srgbClr val="8BD3BF"/>
                </a:solidFill>
              </a:rPr>
              <a:t>* JWT Authentication</a:t>
            </a:r>
          </a:p>
          <a:p>
            <a:r>
              <a:rPr lang="en-IN" dirty="0">
                <a:solidFill>
                  <a:srgbClr val="8BD3BF"/>
                </a:solidFill>
              </a:rPr>
              <a:t>* OTP Verification System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CB04C-3AA7-3462-FCFC-6F856D67D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2F71F29-D20F-B4CC-BCE1-031241021B3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D448519-48A6-9A7E-AA9F-63C9ED629C47}"/>
              </a:ext>
            </a:extLst>
          </p:cNvPr>
          <p:cNvGrpSpPr/>
          <p:nvPr/>
        </p:nvGrpSpPr>
        <p:grpSpPr>
          <a:xfrm>
            <a:off x="632753" y="636360"/>
            <a:ext cx="17103324" cy="1479628"/>
            <a:chOff x="0" y="0"/>
            <a:chExt cx="22804433" cy="1972837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DC6CA20F-1305-FEA9-CBB7-65B609A1D529}"/>
                </a:ext>
              </a:extLst>
            </p:cNvPr>
            <p:cNvGrpSpPr/>
            <p:nvPr/>
          </p:nvGrpSpPr>
          <p:grpSpPr>
            <a:xfrm>
              <a:off x="14170825" y="0"/>
              <a:ext cx="8633608" cy="1747411"/>
              <a:chOff x="0" y="0"/>
              <a:chExt cx="979436" cy="198234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1CC6F5D2-12FE-F148-CCA4-521CDC139BE9}"/>
                  </a:ext>
                </a:extLst>
              </p:cNvPr>
              <p:cNvSpPr/>
              <p:nvPr/>
            </p:nvSpPr>
            <p:spPr>
              <a:xfrm>
                <a:off x="0" y="0"/>
                <a:ext cx="979436" cy="198234"/>
              </a:xfrm>
              <a:custGeom>
                <a:avLst/>
                <a:gdLst/>
                <a:ahLst/>
                <a:cxnLst/>
                <a:rect l="l" t="t" r="r" b="b"/>
                <a:pathLst>
                  <a:path w="979436" h="198234">
                    <a:moveTo>
                      <a:pt x="88476" y="0"/>
                    </a:moveTo>
                    <a:lnTo>
                      <a:pt x="890959" y="0"/>
                    </a:lnTo>
                    <a:cubicBezTo>
                      <a:pt x="939824" y="0"/>
                      <a:pt x="979436" y="39612"/>
                      <a:pt x="979436" y="88476"/>
                    </a:cubicBezTo>
                    <a:lnTo>
                      <a:pt x="979436" y="109758"/>
                    </a:lnTo>
                    <a:cubicBezTo>
                      <a:pt x="979436" y="133223"/>
                      <a:pt x="970114" y="155728"/>
                      <a:pt x="953522" y="172320"/>
                    </a:cubicBezTo>
                    <a:cubicBezTo>
                      <a:pt x="936929" y="188913"/>
                      <a:pt x="914425" y="198234"/>
                      <a:pt x="890959" y="198234"/>
                    </a:cubicBezTo>
                    <a:lnTo>
                      <a:pt x="88476" y="198234"/>
                    </a:lnTo>
                    <a:cubicBezTo>
                      <a:pt x="39612" y="198234"/>
                      <a:pt x="0" y="158622"/>
                      <a:pt x="0" y="109758"/>
                    </a:cubicBezTo>
                    <a:lnTo>
                      <a:pt x="0" y="88476"/>
                    </a:lnTo>
                    <a:cubicBezTo>
                      <a:pt x="0" y="39612"/>
                      <a:pt x="39612" y="0"/>
                      <a:pt x="8847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C52FF">
                      <a:alpha val="34000"/>
                    </a:srgbClr>
                  </a:gs>
                  <a:gs pos="100000">
                    <a:srgbClr val="00BF63">
                      <a:alpha val="34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52413DE4-3B2B-0576-7319-9936B376DDE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979436" cy="245859"/>
              </a:xfrm>
              <a:prstGeom prst="rect">
                <a:avLst/>
              </a:prstGeom>
            </p:spPr>
            <p:txBody>
              <a:bodyPr lIns="56452" tIns="56452" rIns="56452" bIns="56452" rtlCol="0" anchor="ctr"/>
              <a:lstStyle/>
              <a:p>
                <a:pPr algn="ctr">
                  <a:lnSpc>
                    <a:spcPts val="3440"/>
                  </a:lnSpc>
                </a:pPr>
                <a:endParaRPr/>
              </a:p>
            </p:txBody>
          </p:sp>
        </p:grp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85C5AF8-A9EA-33C6-D197-A1FCCD3831A9}"/>
                </a:ext>
              </a:extLst>
            </p:cNvPr>
            <p:cNvSpPr txBox="1"/>
            <p:nvPr/>
          </p:nvSpPr>
          <p:spPr>
            <a:xfrm>
              <a:off x="18542125" y="1128773"/>
              <a:ext cx="1391797" cy="405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37"/>
                </a:lnSpc>
              </a:pPr>
              <a:r>
                <a:rPr lang="en-US" sz="181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220E89EE-A974-45AA-58DF-9E3FDA387EDA}"/>
                </a:ext>
              </a:extLst>
            </p:cNvPr>
            <p:cNvSpPr/>
            <p:nvPr/>
          </p:nvSpPr>
          <p:spPr>
            <a:xfrm>
              <a:off x="18487629" y="213128"/>
              <a:ext cx="1446293" cy="953744"/>
            </a:xfrm>
            <a:custGeom>
              <a:avLst/>
              <a:gdLst/>
              <a:ahLst/>
              <a:cxnLst/>
              <a:rect l="l" t="t" r="r" b="b"/>
              <a:pathLst>
                <a:path w="1446293" h="953744">
                  <a:moveTo>
                    <a:pt x="0" y="0"/>
                  </a:moveTo>
                  <a:lnTo>
                    <a:pt x="1446293" y="0"/>
                  </a:lnTo>
                  <a:lnTo>
                    <a:pt x="1446293" y="953745"/>
                  </a:lnTo>
                  <a:lnTo>
                    <a:pt x="0" y="95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SG"/>
            </a:p>
          </p:txBody>
        </p:sp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E1A27818-1414-CB93-18F1-7188F35A32B7}"/>
                </a:ext>
              </a:extLst>
            </p:cNvPr>
            <p:cNvGrpSpPr/>
            <p:nvPr/>
          </p:nvGrpSpPr>
          <p:grpSpPr>
            <a:xfrm>
              <a:off x="20167830" y="331442"/>
              <a:ext cx="1084526" cy="1084526"/>
              <a:chOff x="0" y="0"/>
              <a:chExt cx="812800" cy="81280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66E1C703-D564-E8BB-59A9-BEB52DE16F6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35748B7A-AB5A-BED4-7E22-66C056C4E883}"/>
                </a:ext>
              </a:extLst>
            </p:cNvPr>
            <p:cNvSpPr/>
            <p:nvPr/>
          </p:nvSpPr>
          <p:spPr>
            <a:xfrm>
              <a:off x="15300917" y="286116"/>
              <a:ext cx="2952803" cy="1011539"/>
            </a:xfrm>
            <a:custGeom>
              <a:avLst/>
              <a:gdLst/>
              <a:ahLst/>
              <a:cxnLst/>
              <a:rect l="l" t="t" r="r" b="b"/>
              <a:pathLst>
                <a:path w="2952803" h="1011539">
                  <a:moveTo>
                    <a:pt x="0" y="0"/>
                  </a:moveTo>
                  <a:lnTo>
                    <a:pt x="2952803" y="0"/>
                  </a:lnTo>
                  <a:lnTo>
                    <a:pt x="2952803" y="1011539"/>
                  </a:lnTo>
                  <a:lnTo>
                    <a:pt x="0" y="1011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5" t="-40049" r="-7054" b="-38629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5BF699FF-150A-0515-576E-BEEF90D75995}"/>
                </a:ext>
              </a:extLst>
            </p:cNvPr>
            <p:cNvSpPr/>
            <p:nvPr/>
          </p:nvSpPr>
          <p:spPr>
            <a:xfrm>
              <a:off x="0" y="0"/>
              <a:ext cx="7273132" cy="1972837"/>
            </a:xfrm>
            <a:custGeom>
              <a:avLst/>
              <a:gdLst/>
              <a:ahLst/>
              <a:cxnLst/>
              <a:rect l="l" t="t" r="r" b="b"/>
              <a:pathLst>
                <a:path w="7273132" h="1972837">
                  <a:moveTo>
                    <a:pt x="0" y="0"/>
                  </a:moveTo>
                  <a:lnTo>
                    <a:pt x="7273132" y="0"/>
                  </a:lnTo>
                  <a:lnTo>
                    <a:pt x="7273132" y="1972837"/>
                  </a:lnTo>
                  <a:lnTo>
                    <a:pt x="0" y="1972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2B8EEDF6-4CB7-8F5F-35D0-C10724E38A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70" b="21875"/>
          <a:stretch>
            <a:fillRect/>
          </a:stretch>
        </p:blipFill>
        <p:spPr>
          <a:xfrm>
            <a:off x="1828800" y="3385484"/>
            <a:ext cx="14630400" cy="627709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07228CA-BF66-FF63-755B-C048D8198F73}"/>
              </a:ext>
            </a:extLst>
          </p:cNvPr>
          <p:cNvSpPr txBox="1"/>
          <p:nvPr/>
        </p:nvSpPr>
        <p:spPr>
          <a:xfrm>
            <a:off x="457200" y="2195927"/>
            <a:ext cx="9432071" cy="921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4000" b="1" dirty="0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AFFF5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Lifecycle of a transportation order</a:t>
            </a:r>
          </a:p>
        </p:txBody>
      </p:sp>
    </p:spTree>
    <p:extLst>
      <p:ext uri="{BB962C8B-B14F-4D97-AF65-F5344CB8AC3E}">
        <p14:creationId xmlns:p14="http://schemas.microsoft.com/office/powerpoint/2010/main" val="2653232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 dirty="0"/>
          </a:p>
        </p:txBody>
      </p:sp>
      <p:sp>
        <p:nvSpPr>
          <p:cNvPr id="3" name="TextBox 3"/>
          <p:cNvSpPr txBox="1"/>
          <p:nvPr/>
        </p:nvSpPr>
        <p:spPr>
          <a:xfrm>
            <a:off x="-2667000" y="2306232"/>
            <a:ext cx="12652043" cy="892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5400" b="1" dirty="0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8F4EB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TEAM MEMBERS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32753" y="636360"/>
            <a:ext cx="17103324" cy="1479628"/>
            <a:chOff x="0" y="0"/>
            <a:chExt cx="22804433" cy="1972837"/>
          </a:xfrm>
        </p:grpSpPr>
        <p:grpSp>
          <p:nvGrpSpPr>
            <p:cNvPr id="5" name="Group 5"/>
            <p:cNvGrpSpPr/>
            <p:nvPr/>
          </p:nvGrpSpPr>
          <p:grpSpPr>
            <a:xfrm>
              <a:off x="14170825" y="0"/>
              <a:ext cx="8633608" cy="1747411"/>
              <a:chOff x="0" y="0"/>
              <a:chExt cx="979436" cy="19823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979436" cy="198234"/>
              </a:xfrm>
              <a:custGeom>
                <a:avLst/>
                <a:gdLst/>
                <a:ahLst/>
                <a:cxnLst/>
                <a:rect l="l" t="t" r="r" b="b"/>
                <a:pathLst>
                  <a:path w="979436" h="198234">
                    <a:moveTo>
                      <a:pt x="88476" y="0"/>
                    </a:moveTo>
                    <a:lnTo>
                      <a:pt x="890959" y="0"/>
                    </a:lnTo>
                    <a:cubicBezTo>
                      <a:pt x="939824" y="0"/>
                      <a:pt x="979436" y="39612"/>
                      <a:pt x="979436" y="88476"/>
                    </a:cubicBezTo>
                    <a:lnTo>
                      <a:pt x="979436" y="109758"/>
                    </a:lnTo>
                    <a:cubicBezTo>
                      <a:pt x="979436" y="133223"/>
                      <a:pt x="970114" y="155728"/>
                      <a:pt x="953522" y="172320"/>
                    </a:cubicBezTo>
                    <a:cubicBezTo>
                      <a:pt x="936929" y="188913"/>
                      <a:pt x="914425" y="198234"/>
                      <a:pt x="890959" y="198234"/>
                    </a:cubicBezTo>
                    <a:lnTo>
                      <a:pt x="88476" y="198234"/>
                    </a:lnTo>
                    <a:cubicBezTo>
                      <a:pt x="39612" y="198234"/>
                      <a:pt x="0" y="158622"/>
                      <a:pt x="0" y="109758"/>
                    </a:cubicBezTo>
                    <a:lnTo>
                      <a:pt x="0" y="88476"/>
                    </a:lnTo>
                    <a:cubicBezTo>
                      <a:pt x="0" y="39612"/>
                      <a:pt x="39612" y="0"/>
                      <a:pt x="8847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C52FF">
                      <a:alpha val="34000"/>
                    </a:srgbClr>
                  </a:gs>
                  <a:gs pos="100000">
                    <a:srgbClr val="00BF63">
                      <a:alpha val="34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979436" cy="245859"/>
              </a:xfrm>
              <a:prstGeom prst="rect">
                <a:avLst/>
              </a:prstGeom>
            </p:spPr>
            <p:txBody>
              <a:bodyPr lIns="56452" tIns="56452" rIns="56452" bIns="56452" rtlCol="0" anchor="ctr"/>
              <a:lstStyle/>
              <a:p>
                <a:pPr algn="ctr">
                  <a:lnSpc>
                    <a:spcPts val="3440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8542125" y="1128773"/>
              <a:ext cx="1391797" cy="405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37"/>
                </a:lnSpc>
              </a:pPr>
              <a:r>
                <a:rPr lang="en-US" sz="181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18487629" y="213128"/>
              <a:ext cx="1446293" cy="953744"/>
            </a:xfrm>
            <a:custGeom>
              <a:avLst/>
              <a:gdLst/>
              <a:ahLst/>
              <a:cxnLst/>
              <a:rect l="l" t="t" r="r" b="b"/>
              <a:pathLst>
                <a:path w="1446293" h="953744">
                  <a:moveTo>
                    <a:pt x="0" y="0"/>
                  </a:moveTo>
                  <a:lnTo>
                    <a:pt x="1446293" y="0"/>
                  </a:lnTo>
                  <a:lnTo>
                    <a:pt x="1446293" y="953745"/>
                  </a:lnTo>
                  <a:lnTo>
                    <a:pt x="0" y="95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SG"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20167830" y="331442"/>
              <a:ext cx="1084526" cy="1084526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15300917" y="286116"/>
              <a:ext cx="2952803" cy="1011539"/>
            </a:xfrm>
            <a:custGeom>
              <a:avLst/>
              <a:gdLst/>
              <a:ahLst/>
              <a:cxnLst/>
              <a:rect l="l" t="t" r="r" b="b"/>
              <a:pathLst>
                <a:path w="2952803" h="1011539">
                  <a:moveTo>
                    <a:pt x="0" y="0"/>
                  </a:moveTo>
                  <a:lnTo>
                    <a:pt x="2952803" y="0"/>
                  </a:lnTo>
                  <a:lnTo>
                    <a:pt x="2952803" y="1011539"/>
                  </a:lnTo>
                  <a:lnTo>
                    <a:pt x="0" y="1011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5" t="-40049" r="-7054" b="-38629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7273132" cy="1972837"/>
            </a:xfrm>
            <a:custGeom>
              <a:avLst/>
              <a:gdLst/>
              <a:ahLst/>
              <a:cxnLst/>
              <a:rect l="l" t="t" r="r" b="b"/>
              <a:pathLst>
                <a:path w="7273132" h="1972837">
                  <a:moveTo>
                    <a:pt x="0" y="0"/>
                  </a:moveTo>
                  <a:lnTo>
                    <a:pt x="7273132" y="0"/>
                  </a:lnTo>
                  <a:lnTo>
                    <a:pt x="7273132" y="1972837"/>
                  </a:lnTo>
                  <a:lnTo>
                    <a:pt x="0" y="1972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6F9A8D6F-6B79-9DFF-E29E-4D8C5B01ABB1}"/>
              </a:ext>
            </a:extLst>
          </p:cNvPr>
          <p:cNvSpPr txBox="1"/>
          <p:nvPr/>
        </p:nvSpPr>
        <p:spPr>
          <a:xfrm>
            <a:off x="1039607" y="3356295"/>
            <a:ext cx="14059194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>
                <a:solidFill>
                  <a:srgbClr val="8BD3BF"/>
                </a:solidFill>
                <a:latin typeface="Montserrat Bold" panose="020B0604020202020204" charset="0"/>
              </a:rPr>
              <a:t>Manan Dudeja – 24BCE1270</a:t>
            </a:r>
          </a:p>
          <a:p>
            <a:endParaRPr lang="en-IN" sz="6000" b="1" dirty="0">
              <a:solidFill>
                <a:srgbClr val="8BD3BF"/>
              </a:solidFill>
              <a:latin typeface="Montserrat Bold" panose="020B0604020202020204" charset="0"/>
            </a:endParaRPr>
          </a:p>
          <a:p>
            <a:r>
              <a:rPr lang="en-IN" sz="6000" b="1" dirty="0">
                <a:solidFill>
                  <a:srgbClr val="8BD3BF"/>
                </a:solidFill>
                <a:latin typeface="Montserrat Bold" panose="020B0604020202020204" charset="0"/>
              </a:rPr>
              <a:t>Arnav Thapliyal – 24BCE1799</a:t>
            </a:r>
          </a:p>
          <a:p>
            <a:endParaRPr lang="en-IN" sz="6000" b="1" dirty="0">
              <a:solidFill>
                <a:srgbClr val="8BD3BF"/>
              </a:solidFill>
              <a:latin typeface="Montserrat Bold" panose="020B0604020202020204" charset="0"/>
            </a:endParaRPr>
          </a:p>
          <a:p>
            <a:r>
              <a:rPr lang="en-IN" sz="6000" b="1" dirty="0">
                <a:solidFill>
                  <a:srgbClr val="8BD3BF"/>
                </a:solidFill>
                <a:latin typeface="Montserrat Bold" panose="020B0604020202020204" charset="0"/>
              </a:rPr>
              <a:t>Akshat Singh – 24BCE1278</a:t>
            </a:r>
          </a:p>
          <a:p>
            <a:endParaRPr lang="en-IN" sz="6000" b="1" dirty="0">
              <a:solidFill>
                <a:srgbClr val="8BD3BF"/>
              </a:solidFill>
              <a:latin typeface="Montserrat Bold" panose="020B0604020202020204" charset="0"/>
            </a:endParaRPr>
          </a:p>
          <a:p>
            <a:r>
              <a:rPr lang="en-IN" sz="6000" b="1" dirty="0">
                <a:solidFill>
                  <a:srgbClr val="8BD3BF"/>
                </a:solidFill>
                <a:latin typeface="Montserrat Bold" panose="020B0604020202020204" charset="0"/>
              </a:rPr>
              <a:t>Tanushree Adhikari – 24BCE1439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34c6c18-4ad7-4e7f-8c7d-cff3ba25f78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5B8DAE0642B942BB833EAABF75097C" ma:contentTypeVersion="9" ma:contentTypeDescription="Create a new document." ma:contentTypeScope="" ma:versionID="7eee752413ace48018808fe7e448a0ec">
  <xsd:schema xmlns:xsd="http://www.w3.org/2001/XMLSchema" xmlns:xs="http://www.w3.org/2001/XMLSchema" xmlns:p="http://schemas.microsoft.com/office/2006/metadata/properties" xmlns:ns3="d34c6c18-4ad7-4e7f-8c7d-cff3ba25f783" targetNamespace="http://schemas.microsoft.com/office/2006/metadata/properties" ma:root="true" ma:fieldsID="1a5e1a1fae4a9f5524bee5798ac7a775" ns3:_="">
    <xsd:import namespace="d34c6c18-4ad7-4e7f-8c7d-cff3ba25f78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4c6c18-4ad7-4e7f-8c7d-cff3ba25f78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B2B98B8-3D4F-4714-8DBA-0D8F614EE67F}">
  <ds:schemaRefs>
    <ds:schemaRef ds:uri="http://purl.org/dc/terms/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d34c6c18-4ad7-4e7f-8c7d-cff3ba25f78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2031D1B-FF95-48F7-95A3-798E6FB22B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34c6c18-4ad7-4e7f-8c7d-cff3ba25f78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D3185E2-E753-47F3-9D69-7177EDDA11F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561</Words>
  <Application>Microsoft Office PowerPoint</Application>
  <PresentationFormat>Custom</PresentationFormat>
  <Paragraphs>103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Playfair Display Bold</vt:lpstr>
      <vt:lpstr>Montserrat Bold</vt:lpstr>
      <vt:lpstr>Arial</vt:lpstr>
      <vt:lpstr>Calibri</vt:lpstr>
      <vt:lpstr>Arimo</vt:lpstr>
      <vt:lpstr>Wingdings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GLITCHCON 2.0</dc:title>
  <dc:creator>Manan Dudeja</dc:creator>
  <cp:lastModifiedBy>Manan Dudeja</cp:lastModifiedBy>
  <cp:revision>5</cp:revision>
  <dcterms:created xsi:type="dcterms:W3CDTF">2006-08-16T00:00:00Z</dcterms:created>
  <dcterms:modified xsi:type="dcterms:W3CDTF">2026-03-09T09:39:13Z</dcterms:modified>
  <dc:identifier>DAG7o8SITjs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0x010100265B8DAE0642B942BB833EAABF75097C</vt:lpwstr>
  </property>
</Properties>
</file>